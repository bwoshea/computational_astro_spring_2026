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D26DDE-52EC-4CBF-8AA5-88395481D1A1}">
  <a:tblStyle styleId="{DDD26DDE-52EC-4CBF-8AA5-88395481D1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e686383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7e686383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43e2f737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43e2f737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Revist model from Week 2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43e2f737a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43e2f737a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43e2f737a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43e2f737a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3e2f737a2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43e2f737a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43e2f737a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43e2f737a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Modernly, anyway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is a focus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3e2f737a2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43e2f737a2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Clusters can be more than just supercomputers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Supercomputers require design for performance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43e2f737a2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43e2f737a2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Processor is used for CPU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 the amd20 cluster has Intel CPUs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3e2f737a2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3e2f737a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almost never going to use the first meaning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try to stick with cores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e686383f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e686383f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7e686383f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7e686383f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43e2f737a2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43e2f737a2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43e2f737a2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43e2f737a2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CPU is trading off 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thread of execution is the smallest sequence of programmed instructions that can be managed independently by a scheduler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43e2f737a2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43e2f737a2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3e2f737a2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43e2f737a2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7e686383f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7e686383f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7e686383f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7e686383f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context manager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7e686383f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7e686383f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ocs.icer.msu.edu/Cluster_Resources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04 - An Introduction to Multiple </a:t>
            </a:r>
            <a:r>
              <a:rPr lang="en"/>
              <a:t>Processors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09/19/25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Supercomputer terminology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Pleasantly parallel problems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Running programs: processes &amp; threads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 on multiple CPU cores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/>
          <p:nvPr/>
        </p:nvSpPr>
        <p:spPr>
          <a:xfrm>
            <a:off x="446750" y="1002075"/>
            <a:ext cx="4222800" cy="3470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Central Processing Unit</a:t>
            </a:r>
            <a:endParaRPr sz="1600"/>
          </a:p>
        </p:txBody>
      </p:sp>
      <p:sp>
        <p:nvSpPr>
          <p:cNvPr id="112" name="Google Shape;112;p27"/>
          <p:cNvSpPr/>
          <p:nvPr/>
        </p:nvSpPr>
        <p:spPr>
          <a:xfrm>
            <a:off x="756600" y="1621775"/>
            <a:ext cx="1620000" cy="1089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Unit (CU)</a:t>
            </a:r>
            <a:endParaRPr/>
          </a:p>
        </p:txBody>
      </p:sp>
      <p:sp>
        <p:nvSpPr>
          <p:cNvPr id="113" name="Google Shape;113;p27"/>
          <p:cNvSpPr/>
          <p:nvPr/>
        </p:nvSpPr>
        <p:spPr>
          <a:xfrm>
            <a:off x="2713075" y="1630625"/>
            <a:ext cx="1620000" cy="1071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Logic Unit (ALU)</a:t>
            </a:r>
            <a:endParaRPr/>
          </a:p>
        </p:txBody>
      </p:sp>
      <p:sp>
        <p:nvSpPr>
          <p:cNvPr id="114" name="Google Shape;114;p27"/>
          <p:cNvSpPr/>
          <p:nvPr/>
        </p:nvSpPr>
        <p:spPr>
          <a:xfrm>
            <a:off x="2713075" y="2987000"/>
            <a:ext cx="1620000" cy="1089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Registers</a:t>
            </a:r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756600" y="2987000"/>
            <a:ext cx="1620000" cy="1089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L1 Cache</a:t>
            </a:r>
            <a:endParaRPr/>
          </a:p>
        </p:txBody>
      </p:sp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17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Block Model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/>
          <p:nvPr/>
        </p:nvSpPr>
        <p:spPr>
          <a:xfrm>
            <a:off x="446750" y="1002075"/>
            <a:ext cx="4222800" cy="3470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strike="sngStrike"/>
              <a:t>Central Processing Unit </a:t>
            </a:r>
            <a:endParaRPr sz="1600" strike="sngStrike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Core</a:t>
            </a:r>
            <a:endParaRPr sz="1600"/>
          </a:p>
        </p:txBody>
      </p:sp>
      <p:sp>
        <p:nvSpPr>
          <p:cNvPr id="122" name="Google Shape;122;p28"/>
          <p:cNvSpPr/>
          <p:nvPr/>
        </p:nvSpPr>
        <p:spPr>
          <a:xfrm>
            <a:off x="756600" y="1621775"/>
            <a:ext cx="1620000" cy="1089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Unit (CU)</a:t>
            </a:r>
            <a:endParaRPr/>
          </a:p>
        </p:txBody>
      </p:sp>
      <p:sp>
        <p:nvSpPr>
          <p:cNvPr id="123" name="Google Shape;123;p28"/>
          <p:cNvSpPr/>
          <p:nvPr/>
        </p:nvSpPr>
        <p:spPr>
          <a:xfrm>
            <a:off x="2713075" y="1630625"/>
            <a:ext cx="1620000" cy="1071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Logic Unit (ALU)</a:t>
            </a:r>
            <a:endParaRPr/>
          </a:p>
        </p:txBody>
      </p:sp>
      <p:sp>
        <p:nvSpPr>
          <p:cNvPr id="124" name="Google Shape;124;p28"/>
          <p:cNvSpPr/>
          <p:nvPr/>
        </p:nvSpPr>
        <p:spPr>
          <a:xfrm>
            <a:off x="2713075" y="2987000"/>
            <a:ext cx="1620000" cy="1089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Registers</a:t>
            </a:r>
            <a:endParaRPr/>
          </a:p>
        </p:txBody>
      </p:sp>
      <p:sp>
        <p:nvSpPr>
          <p:cNvPr id="125" name="Google Shape;125;p28"/>
          <p:cNvSpPr/>
          <p:nvPr/>
        </p:nvSpPr>
        <p:spPr>
          <a:xfrm>
            <a:off x="756600" y="2987000"/>
            <a:ext cx="1620000" cy="1089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L1 Cache</a:t>
            </a:r>
            <a:endParaRPr/>
          </a:p>
        </p:txBody>
      </p:sp>
      <p:sp>
        <p:nvSpPr>
          <p:cNvPr id="126" name="Google Shape;126;p28"/>
          <p:cNvSpPr txBox="1"/>
          <p:nvPr>
            <p:ph idx="4294967295" type="title"/>
          </p:nvPr>
        </p:nvSpPr>
        <p:spPr>
          <a:xfrm>
            <a:off x="311700" y="17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Block Model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/>
          <p:nvPr>
            <p:ph type="title"/>
          </p:nvPr>
        </p:nvSpPr>
        <p:spPr>
          <a:xfrm>
            <a:off x="311700" y="17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Multi-Core CPUs</a:t>
            </a:r>
            <a:endParaRPr/>
          </a:p>
        </p:txBody>
      </p:sp>
      <p:grpSp>
        <p:nvGrpSpPr>
          <p:cNvPr id="132" name="Google Shape;132;p29"/>
          <p:cNvGrpSpPr/>
          <p:nvPr/>
        </p:nvGrpSpPr>
        <p:grpSpPr>
          <a:xfrm>
            <a:off x="626600" y="1442325"/>
            <a:ext cx="2989200" cy="2589900"/>
            <a:chOff x="446750" y="1116675"/>
            <a:chExt cx="2989200" cy="2589900"/>
          </a:xfrm>
        </p:grpSpPr>
        <p:sp>
          <p:nvSpPr>
            <p:cNvPr id="133" name="Google Shape;133;p29"/>
            <p:cNvSpPr/>
            <p:nvPr/>
          </p:nvSpPr>
          <p:spPr>
            <a:xfrm>
              <a:off x="446750" y="1116675"/>
              <a:ext cx="2989200" cy="2589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trike="sngStrike"/>
                <a:t>Central Processing Unit </a:t>
              </a:r>
              <a:endParaRPr strike="sngStrike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Core</a:t>
              </a:r>
              <a:endParaRPr/>
            </a:p>
          </p:txBody>
        </p:sp>
        <p:sp>
          <p:nvSpPr>
            <p:cNvPr id="134" name="Google Shape;134;p29"/>
            <p:cNvSpPr/>
            <p:nvPr/>
          </p:nvSpPr>
          <p:spPr>
            <a:xfrm>
              <a:off x="774620" y="1800068"/>
              <a:ext cx="1056900" cy="7668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Control Unit (CU)</a:t>
              </a:r>
              <a:endParaRPr sz="1200"/>
            </a:p>
          </p:txBody>
        </p:sp>
        <p:sp>
          <p:nvSpPr>
            <p:cNvPr id="135" name="Google Shape;135;p29"/>
            <p:cNvSpPr/>
            <p:nvPr/>
          </p:nvSpPr>
          <p:spPr>
            <a:xfrm>
              <a:off x="2051172" y="1806299"/>
              <a:ext cx="1056900" cy="7542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Arithmetic Logic Unit (ALU)</a:t>
              </a:r>
              <a:endParaRPr sz="1200"/>
            </a:p>
          </p:txBody>
        </p:sp>
        <p:sp>
          <p:nvSpPr>
            <p:cNvPr id="136" name="Google Shape;136;p29"/>
            <p:cNvSpPr/>
            <p:nvPr/>
          </p:nvSpPr>
          <p:spPr>
            <a:xfrm>
              <a:off x="2051172" y="2761349"/>
              <a:ext cx="1056900" cy="7668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Registers</a:t>
              </a:r>
              <a:endParaRPr sz="1200"/>
            </a:p>
          </p:txBody>
        </p:sp>
        <p:sp>
          <p:nvSpPr>
            <p:cNvPr id="137" name="Google Shape;137;p29"/>
            <p:cNvSpPr/>
            <p:nvPr/>
          </p:nvSpPr>
          <p:spPr>
            <a:xfrm>
              <a:off x="774620" y="2761349"/>
              <a:ext cx="1056900" cy="7668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L1 Cache</a:t>
              </a:r>
              <a:endParaRPr sz="1200"/>
            </a:p>
          </p:txBody>
        </p:sp>
      </p:grpSp>
      <p:sp>
        <p:nvSpPr>
          <p:cNvPr id="138" name="Google Shape;138;p29"/>
          <p:cNvSpPr/>
          <p:nvPr/>
        </p:nvSpPr>
        <p:spPr>
          <a:xfrm>
            <a:off x="4588975" y="1002075"/>
            <a:ext cx="4222800" cy="3855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Modern CPU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9" name="Google Shape;139;p29"/>
          <p:cNvSpPr/>
          <p:nvPr/>
        </p:nvSpPr>
        <p:spPr>
          <a:xfrm>
            <a:off x="5837200" y="1495275"/>
            <a:ext cx="845400" cy="127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</a:t>
            </a:r>
            <a:endParaRPr/>
          </a:p>
        </p:txBody>
      </p:sp>
      <p:sp>
        <p:nvSpPr>
          <p:cNvPr id="140" name="Google Shape;140;p29"/>
          <p:cNvSpPr/>
          <p:nvPr/>
        </p:nvSpPr>
        <p:spPr>
          <a:xfrm>
            <a:off x="6803375" y="1495275"/>
            <a:ext cx="845400" cy="127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</a:t>
            </a:r>
            <a:endParaRPr/>
          </a:p>
        </p:txBody>
      </p:sp>
      <p:sp>
        <p:nvSpPr>
          <p:cNvPr id="141" name="Google Shape;141;p29"/>
          <p:cNvSpPr/>
          <p:nvPr/>
        </p:nvSpPr>
        <p:spPr>
          <a:xfrm>
            <a:off x="7769550" y="1468425"/>
            <a:ext cx="845400" cy="127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</a:t>
            </a:r>
            <a:endParaRPr/>
          </a:p>
        </p:txBody>
      </p:sp>
      <p:sp>
        <p:nvSpPr>
          <p:cNvPr id="142" name="Google Shape;142;p29"/>
          <p:cNvSpPr/>
          <p:nvPr/>
        </p:nvSpPr>
        <p:spPr>
          <a:xfrm>
            <a:off x="4871025" y="1495275"/>
            <a:ext cx="845400" cy="127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</a:t>
            </a:r>
            <a:endParaRPr/>
          </a:p>
        </p:txBody>
      </p:sp>
      <p:sp>
        <p:nvSpPr>
          <p:cNvPr id="143" name="Google Shape;143;p29"/>
          <p:cNvSpPr/>
          <p:nvPr/>
        </p:nvSpPr>
        <p:spPr>
          <a:xfrm>
            <a:off x="4871025" y="2872675"/>
            <a:ext cx="3744000" cy="779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L2 Cache</a:t>
            </a:r>
            <a:endParaRPr/>
          </a:p>
        </p:txBody>
      </p:sp>
      <p:sp>
        <p:nvSpPr>
          <p:cNvPr id="144" name="Google Shape;144;p29"/>
          <p:cNvSpPr/>
          <p:nvPr/>
        </p:nvSpPr>
        <p:spPr>
          <a:xfrm>
            <a:off x="4871100" y="3752375"/>
            <a:ext cx="3744000" cy="7791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Controllers</a:t>
            </a:r>
            <a:endParaRPr/>
          </a:p>
        </p:txBody>
      </p:sp>
      <p:cxnSp>
        <p:nvCxnSpPr>
          <p:cNvPr id="145" name="Google Shape;145;p29"/>
          <p:cNvCxnSpPr/>
          <p:nvPr/>
        </p:nvCxnSpPr>
        <p:spPr>
          <a:xfrm flipH="1" rot="10800000">
            <a:off x="3417850" y="2168675"/>
            <a:ext cx="1654500" cy="791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Parts of a Computer</a:t>
            </a:r>
            <a:endParaRPr/>
          </a:p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Memory (RAM)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Storage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Hard</a:t>
            </a:r>
            <a:r>
              <a:rPr lang="en"/>
              <a:t> Disk Drive (HDD)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Solid State Drive (SSD)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Graphics Processing Unit (GPU)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Networking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Input devices (mouse, keyboard, etc)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Output devices (monitors, speakers, etc)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/>
              <a:t>Other computers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type="title"/>
          </p:nvPr>
        </p:nvSpPr>
        <p:spPr>
          <a:xfrm>
            <a:off x="490250" y="450150"/>
            <a:ext cx="6999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supercomputer is</a:t>
            </a:r>
            <a:r>
              <a:rPr lang="en" sz="2400"/>
              <a:t> made of i</a:t>
            </a:r>
            <a:r>
              <a:rPr lang="en" sz="2400"/>
              <a:t>ndividual computers networked together to share a workload.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 this context, each computer is called a “node.”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/>
          <p:nvPr/>
        </p:nvSpPr>
        <p:spPr>
          <a:xfrm>
            <a:off x="2080950" y="847650"/>
            <a:ext cx="4982100" cy="3448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</a:t>
            </a:r>
            <a:r>
              <a:rPr lang="en"/>
              <a:t>s</a:t>
            </a:r>
            <a:endParaRPr/>
          </a:p>
        </p:txBody>
      </p:sp>
      <p:sp>
        <p:nvSpPr>
          <p:cNvPr id="162" name="Google Shape;162;p32"/>
          <p:cNvSpPr/>
          <p:nvPr/>
        </p:nvSpPr>
        <p:spPr>
          <a:xfrm>
            <a:off x="2404500" y="1261350"/>
            <a:ext cx="4335000" cy="2745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Nodes</a:t>
            </a:r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2776800" y="1763950"/>
            <a:ext cx="1719000" cy="2077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</a:t>
            </a:r>
            <a:endParaRPr/>
          </a:p>
        </p:txBody>
      </p:sp>
      <p:sp>
        <p:nvSpPr>
          <p:cNvPr id="164" name="Google Shape;164;p32"/>
          <p:cNvSpPr/>
          <p:nvPr/>
        </p:nvSpPr>
        <p:spPr>
          <a:xfrm>
            <a:off x="3101700" y="2192425"/>
            <a:ext cx="1069200" cy="1401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Cores</a:t>
            </a:r>
            <a:endParaRPr/>
          </a:p>
        </p:txBody>
      </p:sp>
      <p:sp>
        <p:nvSpPr>
          <p:cNvPr id="165" name="Google Shape;165;p32"/>
          <p:cNvSpPr/>
          <p:nvPr/>
        </p:nvSpPr>
        <p:spPr>
          <a:xfrm>
            <a:off x="4693250" y="1763950"/>
            <a:ext cx="1719000" cy="961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GPU</a:t>
            </a:r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5018150" y="2116225"/>
            <a:ext cx="1069200" cy="379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Cores</a:t>
            </a:r>
            <a:endParaRPr/>
          </a:p>
        </p:txBody>
      </p:sp>
      <p:sp>
        <p:nvSpPr>
          <p:cNvPr id="167" name="Google Shape;167;p32"/>
          <p:cNvSpPr/>
          <p:nvPr/>
        </p:nvSpPr>
        <p:spPr>
          <a:xfrm>
            <a:off x="4693250" y="2801950"/>
            <a:ext cx="1719000" cy="1038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p33"/>
          <p:cNvGraphicFramePr/>
          <p:nvPr/>
        </p:nvGraphicFramePr>
        <p:xfrm>
          <a:off x="682013" y="185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{DDD26DDE-52EC-4CBF-8AA5-88395481D1A1}</a:tableStyleId>
              </a:tblPr>
              <a:tblGrid>
                <a:gridCol w="1253575"/>
                <a:gridCol w="1377325"/>
                <a:gridCol w="1320225"/>
                <a:gridCol w="788775"/>
                <a:gridCol w="940600"/>
                <a:gridCol w="1244275"/>
                <a:gridCol w="855200"/>
              </a:tblGrid>
              <a:tr h="37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Cluster Type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Node Count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Processor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Cores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Memory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Disk Size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GPUs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amd20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AMD EPYC 7H12 Processor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493 GB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412 GB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amd20-v100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Intel Xeon </a:t>
                      </a:r>
                      <a:r>
                        <a:rPr lang="en"/>
                        <a:t>Platinum 8260 CPU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178 GB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412 GB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 v100s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docs.icer.msu.edu/Cluster_Resources/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Terminology</a:t>
            </a:r>
            <a:endParaRPr/>
          </a:p>
        </p:txBody>
      </p:sp>
      <p:sp>
        <p:nvSpPr>
          <p:cNvPr id="179" name="Google Shape;179;p34"/>
          <p:cNvSpPr txBox="1"/>
          <p:nvPr>
            <p:ph idx="1" type="body"/>
          </p:nvPr>
        </p:nvSpPr>
        <p:spPr>
          <a:xfrm>
            <a:off x="311700" y="1152475"/>
            <a:ext cx="514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“Processor” can refer to the CPU</a:t>
            </a:r>
            <a:br>
              <a:rPr lang="en"/>
            </a:br>
            <a:r>
              <a:rPr lang="en"/>
              <a:t>e</a:t>
            </a:r>
            <a:r>
              <a:rPr lang="en"/>
              <a:t>.g. the AMD EPYC Processor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“Processor” can refer to CPU </a:t>
            </a:r>
            <a:r>
              <a:rPr i="1" lang="en"/>
              <a:t>cores</a:t>
            </a:r>
            <a:br>
              <a:rPr i="1" lang="en"/>
            </a:br>
            <a:r>
              <a:rPr lang="en"/>
              <a:t>e</a:t>
            </a:r>
            <a:r>
              <a:rPr lang="en"/>
              <a:t>.g. “Run this code with </a:t>
            </a:r>
            <a:r>
              <a:rPr lang="en"/>
              <a:t>multiple</a:t>
            </a:r>
            <a:r>
              <a:rPr lang="en"/>
              <a:t> processors”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“CPUs” can also refer to the cores</a:t>
            </a:r>
            <a:br>
              <a:rPr lang="en"/>
            </a:br>
            <a:r>
              <a:rPr lang="en"/>
              <a:t>e</a:t>
            </a:r>
            <a:r>
              <a:rPr lang="en"/>
              <a:t>.g. the SLURM option “mem-per-cpu”</a:t>
            </a:r>
            <a:endParaRPr/>
          </a:p>
        </p:txBody>
      </p:sp>
      <p:grpSp>
        <p:nvGrpSpPr>
          <p:cNvPr id="180" name="Google Shape;180;p34"/>
          <p:cNvGrpSpPr/>
          <p:nvPr/>
        </p:nvGrpSpPr>
        <p:grpSpPr>
          <a:xfrm>
            <a:off x="4611456" y="941523"/>
            <a:ext cx="1083570" cy="1071414"/>
            <a:chOff x="4588975" y="1174250"/>
            <a:chExt cx="4222800" cy="3683100"/>
          </a:xfrm>
        </p:grpSpPr>
        <p:sp>
          <p:nvSpPr>
            <p:cNvPr id="181" name="Google Shape;181;p34"/>
            <p:cNvSpPr/>
            <p:nvPr/>
          </p:nvSpPr>
          <p:spPr>
            <a:xfrm>
              <a:off x="4588975" y="1174250"/>
              <a:ext cx="4222800" cy="3683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182" name="Google Shape;182;p34"/>
            <p:cNvSpPr/>
            <p:nvPr/>
          </p:nvSpPr>
          <p:spPr>
            <a:xfrm>
              <a:off x="5837200" y="1495275"/>
              <a:ext cx="845400" cy="127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4"/>
            <p:cNvSpPr/>
            <p:nvPr/>
          </p:nvSpPr>
          <p:spPr>
            <a:xfrm>
              <a:off x="6803375" y="1495275"/>
              <a:ext cx="845400" cy="127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4"/>
            <p:cNvSpPr/>
            <p:nvPr/>
          </p:nvSpPr>
          <p:spPr>
            <a:xfrm>
              <a:off x="7769550" y="1468425"/>
              <a:ext cx="845400" cy="127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4"/>
            <p:cNvSpPr/>
            <p:nvPr/>
          </p:nvSpPr>
          <p:spPr>
            <a:xfrm>
              <a:off x="4871025" y="1495275"/>
              <a:ext cx="845400" cy="127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4"/>
            <p:cNvSpPr/>
            <p:nvPr/>
          </p:nvSpPr>
          <p:spPr>
            <a:xfrm>
              <a:off x="4871025" y="2872675"/>
              <a:ext cx="3744000" cy="7791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4"/>
            <p:cNvSpPr/>
            <p:nvPr/>
          </p:nvSpPr>
          <p:spPr>
            <a:xfrm>
              <a:off x="4871100" y="3752375"/>
              <a:ext cx="3744000" cy="779100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" name="Google Shape;188;p34"/>
          <p:cNvGrpSpPr/>
          <p:nvPr/>
        </p:nvGrpSpPr>
        <p:grpSpPr>
          <a:xfrm>
            <a:off x="5618901" y="2269882"/>
            <a:ext cx="1083585" cy="937555"/>
            <a:chOff x="446750" y="1559275"/>
            <a:chExt cx="2989200" cy="2147400"/>
          </a:xfrm>
        </p:grpSpPr>
        <p:sp>
          <p:nvSpPr>
            <p:cNvPr id="189" name="Google Shape;189;p34"/>
            <p:cNvSpPr/>
            <p:nvPr/>
          </p:nvSpPr>
          <p:spPr>
            <a:xfrm>
              <a:off x="446750" y="1559275"/>
              <a:ext cx="2989200" cy="2147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4"/>
            <p:cNvSpPr/>
            <p:nvPr/>
          </p:nvSpPr>
          <p:spPr>
            <a:xfrm>
              <a:off x="774620" y="1800068"/>
              <a:ext cx="1056900" cy="7668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1" name="Google Shape;191;p34"/>
            <p:cNvSpPr/>
            <p:nvPr/>
          </p:nvSpPr>
          <p:spPr>
            <a:xfrm>
              <a:off x="2051172" y="1806299"/>
              <a:ext cx="1056900" cy="7542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2" name="Google Shape;192;p34"/>
            <p:cNvSpPr/>
            <p:nvPr/>
          </p:nvSpPr>
          <p:spPr>
            <a:xfrm>
              <a:off x="2051172" y="2761349"/>
              <a:ext cx="1056900" cy="7668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3" name="Google Shape;193;p34"/>
            <p:cNvSpPr/>
            <p:nvPr/>
          </p:nvSpPr>
          <p:spPr>
            <a:xfrm>
              <a:off x="774620" y="2761349"/>
              <a:ext cx="1056900" cy="7668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grpSp>
        <p:nvGrpSpPr>
          <p:cNvPr id="194" name="Google Shape;194;p34"/>
          <p:cNvGrpSpPr/>
          <p:nvPr/>
        </p:nvGrpSpPr>
        <p:grpSpPr>
          <a:xfrm>
            <a:off x="5287326" y="3532582"/>
            <a:ext cx="1083585" cy="937555"/>
            <a:chOff x="446750" y="1559275"/>
            <a:chExt cx="2989200" cy="2147400"/>
          </a:xfrm>
        </p:grpSpPr>
        <p:sp>
          <p:nvSpPr>
            <p:cNvPr id="195" name="Google Shape;195;p34"/>
            <p:cNvSpPr/>
            <p:nvPr/>
          </p:nvSpPr>
          <p:spPr>
            <a:xfrm>
              <a:off x="446750" y="1559275"/>
              <a:ext cx="2989200" cy="2147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4"/>
            <p:cNvSpPr/>
            <p:nvPr/>
          </p:nvSpPr>
          <p:spPr>
            <a:xfrm>
              <a:off x="774620" y="1800068"/>
              <a:ext cx="1056900" cy="7668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7" name="Google Shape;197;p34"/>
            <p:cNvSpPr/>
            <p:nvPr/>
          </p:nvSpPr>
          <p:spPr>
            <a:xfrm>
              <a:off x="2051172" y="1806299"/>
              <a:ext cx="1056900" cy="754200"/>
            </a:xfrm>
            <a:prstGeom prst="rect">
              <a:avLst/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8" name="Google Shape;198;p34"/>
            <p:cNvSpPr/>
            <p:nvPr/>
          </p:nvSpPr>
          <p:spPr>
            <a:xfrm>
              <a:off x="2051172" y="2761349"/>
              <a:ext cx="1056900" cy="7668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9" name="Google Shape;199;p34"/>
            <p:cNvSpPr/>
            <p:nvPr/>
          </p:nvSpPr>
          <p:spPr>
            <a:xfrm>
              <a:off x="774620" y="2761349"/>
              <a:ext cx="1056900" cy="7668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Multiple Cores</a:t>
            </a:r>
            <a:endParaRPr/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311700" y="1000075"/>
            <a:ext cx="8520600" cy="3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haring work is a powerful way to shorten program runtime.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Pleasantly parallel</a:t>
            </a:r>
            <a:r>
              <a:rPr lang="en"/>
              <a:t> problems are those workloads that can be</a:t>
            </a:r>
            <a:br>
              <a:rPr lang="en"/>
            </a:br>
            <a:r>
              <a:rPr lang="en"/>
              <a:t>easily split over multiple cores with little change.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images need preprocessing before training machine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Years worth of voting data needs correlating with population statistics for multiple counties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Monte Carlo simulation needs hundreds of realizations to adequately investigate statistics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Consider:</a:t>
            </a:r>
            <a:r>
              <a:rPr lang="en"/>
              <a:t> how would you distribute these workloads across multiple cores?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311700" y="2150850"/>
            <a:ext cx="8520600" cy="129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accomplish parallelization in Python?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Process?</a:t>
            </a:r>
            <a:endParaRPr/>
          </a:p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311700" y="1152475"/>
            <a:ext cx="8520600" cy="36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Processors process processes :)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“process” is an instance of a computer program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Processes can create other processes! (see: chrome)</a:t>
            </a:r>
            <a:endParaRPr/>
          </a:p>
        </p:txBody>
      </p:sp>
      <p:pic>
        <p:nvPicPr>
          <p:cNvPr id="217" name="Google Shape;217;p37"/>
          <p:cNvPicPr preferRelativeResize="0"/>
          <p:nvPr/>
        </p:nvPicPr>
        <p:blipFill rotWithShape="1">
          <a:blip r:embed="rId3">
            <a:alphaModFix/>
          </a:blip>
          <a:srcRect b="61037" l="0" r="0" t="0"/>
          <a:stretch/>
        </p:blipFill>
        <p:spPr>
          <a:xfrm>
            <a:off x="435075" y="2552525"/>
            <a:ext cx="5457950" cy="20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Thread?</a:t>
            </a:r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you’ve taken CMSE 822 or worked with OpenMP, </a:t>
            </a:r>
            <a:br>
              <a:rPr lang="en"/>
            </a:br>
            <a:r>
              <a:rPr lang="en"/>
              <a:t>you’ve probably heard of “threading”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process has </a:t>
            </a:r>
            <a:r>
              <a:rPr i="1" lang="en"/>
              <a:t>at least</a:t>
            </a:r>
            <a:r>
              <a:rPr lang="en"/>
              <a:t> one thread.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Threads execute the program in </a:t>
            </a:r>
            <a:r>
              <a:rPr lang="en"/>
              <a:t>schedulable</a:t>
            </a:r>
            <a:r>
              <a:rPr lang="en"/>
              <a:t> segments.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threads for the same process </a:t>
            </a:r>
            <a:r>
              <a:rPr b="1" lang="en"/>
              <a:t>share memory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CPU cores, each running a thread of the same process,</a:t>
            </a:r>
            <a:br>
              <a:rPr lang="en"/>
            </a:br>
            <a:r>
              <a:rPr b="1" lang="en"/>
              <a:t>c</a:t>
            </a:r>
            <a:r>
              <a:rPr b="1" lang="en"/>
              <a:t>an make that process run faster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" name="Google Shape;228;p39"/>
          <p:cNvGraphicFramePr/>
          <p:nvPr/>
        </p:nvGraphicFramePr>
        <p:xfrm>
          <a:off x="1992700" y="94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{DDD26DDE-52EC-4CBF-8AA5-88395481D1A1}</a:tableStyleId>
              </a:tblPr>
              <a:tblGrid>
                <a:gridCol w="2562250"/>
                <a:gridCol w="2596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Processes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Threads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Instance of a program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Executes segment of process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Isolated memory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Shared memory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system call per process created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One system call can create multiple threads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time to create, destroy, and switch between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Less time to create, destroy, and switch between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</a:t>
                      </a:r>
                      <a:r>
                        <a:rPr lang="en"/>
                        <a:t>heavy-weight”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“light-weight”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9" name="Google Shape;229;p39"/>
          <p:cNvSpPr txBox="1"/>
          <p:nvPr/>
        </p:nvSpPr>
        <p:spPr>
          <a:xfrm>
            <a:off x="315300" y="4174675"/>
            <a:ext cx="85134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Threads sound great for performance! Can we use them in Python?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Maybe introduce with Numba when actually relevant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Python’s Global Interpreter Lock</a:t>
            </a:r>
            <a:endParaRPr/>
          </a:p>
        </p:txBody>
      </p:sp>
      <p:sp>
        <p:nvSpPr>
          <p:cNvPr id="235" name="Google Shape;23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 uses </a:t>
            </a:r>
            <a:r>
              <a:rPr b="1" lang="en"/>
              <a:t>reference counting</a:t>
            </a:r>
            <a:r>
              <a:rPr i="1" lang="en"/>
              <a:t> </a:t>
            </a:r>
            <a:r>
              <a:rPr lang="en"/>
              <a:t>to track when memory can be freed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prevent errors, only one thread at a time may update thread may update the reference count - this is the GIL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Though threads provide many advantages (speed, shared memory),</a:t>
            </a:r>
            <a:br>
              <a:rPr lang="en"/>
            </a:br>
            <a:r>
              <a:rPr lang="en"/>
              <a:t>the GIL restricts situations in which they improve performance</a:t>
            </a:r>
            <a:endParaRPr/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Exception: performing tasks while waiting for I/O (covered in ~a month)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most cases, we must use </a:t>
            </a:r>
            <a:r>
              <a:rPr b="1" lang="en"/>
              <a:t>multiple processes</a:t>
            </a:r>
            <a:r>
              <a:rPr lang="en"/>
              <a:t> to leverage multiple cores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"/>
            </a:br>
            <a:r>
              <a:rPr lang="en"/>
              <a:t>The GIL can experimentally be removed in Python 3.13</a:t>
            </a:r>
            <a:br>
              <a:rPr lang="en"/>
            </a:br>
            <a:r>
              <a:rPr lang="en"/>
              <a:t>if you build Python from its source code (which I have not)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Python’s Multiprocessing Module</a:t>
            </a:r>
            <a:endParaRPr/>
          </a:p>
        </p:txBody>
      </p:sp>
      <p:sp>
        <p:nvSpPr>
          <p:cNvPr id="241" name="Google Shape;241;p41"/>
          <p:cNvSpPr txBox="1"/>
          <p:nvPr>
            <p:ph idx="1" type="body"/>
          </p:nvPr>
        </p:nvSpPr>
        <p:spPr>
          <a:xfrm>
            <a:off x="311700" y="1152475"/>
            <a:ext cx="8520600" cy="15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module in the Python standard library (always available with Python)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Convenient way to </a:t>
            </a:r>
            <a:r>
              <a:rPr b="1" lang="en"/>
              <a:t>divide a workload </a:t>
            </a:r>
            <a:r>
              <a:rPr lang="en"/>
              <a:t>across multiple processes.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processes treat their data with </a:t>
            </a:r>
            <a:r>
              <a:rPr b="1" lang="en"/>
              <a:t>the same function.</a:t>
            </a:r>
            <a:endParaRPr/>
          </a:p>
        </p:txBody>
      </p:sp>
      <p:cxnSp>
        <p:nvCxnSpPr>
          <p:cNvPr id="242" name="Google Shape;242;p41"/>
          <p:cNvCxnSpPr/>
          <p:nvPr/>
        </p:nvCxnSpPr>
        <p:spPr>
          <a:xfrm>
            <a:off x="1358550" y="4616525"/>
            <a:ext cx="6426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41"/>
          <p:cNvSpPr txBox="1"/>
          <p:nvPr/>
        </p:nvSpPr>
        <p:spPr>
          <a:xfrm>
            <a:off x="4152150" y="4664775"/>
            <a:ext cx="83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</a:t>
            </a:r>
            <a:endParaRPr/>
          </a:p>
        </p:txBody>
      </p:sp>
      <p:sp>
        <p:nvSpPr>
          <p:cNvPr id="244" name="Google Shape;244;p41"/>
          <p:cNvSpPr/>
          <p:nvPr/>
        </p:nvSpPr>
        <p:spPr>
          <a:xfrm>
            <a:off x="1477350" y="2760700"/>
            <a:ext cx="6262800" cy="4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Parent Process</a:t>
            </a:r>
            <a:endParaRPr/>
          </a:p>
        </p:txBody>
      </p:sp>
      <p:sp>
        <p:nvSpPr>
          <p:cNvPr id="245" name="Google Shape;245;p41"/>
          <p:cNvSpPr/>
          <p:nvPr/>
        </p:nvSpPr>
        <p:spPr>
          <a:xfrm>
            <a:off x="2365175" y="3263500"/>
            <a:ext cx="4757400" cy="4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Child Process</a:t>
            </a:r>
            <a:endParaRPr/>
          </a:p>
        </p:txBody>
      </p:sp>
      <p:sp>
        <p:nvSpPr>
          <p:cNvPr id="246" name="Google Shape;246;p41"/>
          <p:cNvSpPr/>
          <p:nvPr/>
        </p:nvSpPr>
        <p:spPr>
          <a:xfrm>
            <a:off x="2365175" y="3766300"/>
            <a:ext cx="4757400" cy="4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Child Process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Multiprocessing</a:t>
            </a:r>
            <a:endParaRPr/>
          </a:p>
        </p:txBody>
      </p:sp>
      <p:sp>
        <p:nvSpPr>
          <p:cNvPr id="252" name="Google Shape;252;p42"/>
          <p:cNvSpPr txBox="1"/>
          <p:nvPr>
            <p:ph idx="1" type="body"/>
          </p:nvPr>
        </p:nvSpPr>
        <p:spPr>
          <a:xfrm>
            <a:off x="311700" y="1152475"/>
            <a:ext cx="8520600" cy="3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most helpful object in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multiprocessing</a:t>
            </a:r>
            <a:r>
              <a:rPr lang="en"/>
              <a:t> module is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Pool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Pool.map()</a:t>
            </a:r>
            <a:r>
              <a:rPr lang="en"/>
              <a:t> automatically divides a workload and applies a function: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</a:t>
            </a:r>
            <a:br>
              <a:rPr lang="en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with multiprocessing.Pool(processes=ncores) as p:</a:t>
            </a:r>
            <a:br>
              <a:rPr lang="en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		p.map(function, data)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program will run most efficiently if we have </a:t>
            </a:r>
            <a:r>
              <a:rPr b="1" lang="en"/>
              <a:t>one process per core.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Why is it bad for performance to have more processes than available cores?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43"/>
          <p:cNvGrpSpPr/>
          <p:nvPr/>
        </p:nvGrpSpPr>
        <p:grpSpPr>
          <a:xfrm>
            <a:off x="2109973" y="239749"/>
            <a:ext cx="4924054" cy="3828936"/>
            <a:chOff x="200400" y="32600"/>
            <a:chExt cx="4035448" cy="2893475"/>
          </a:xfrm>
        </p:grpSpPr>
        <p:pic>
          <p:nvPicPr>
            <p:cNvPr id="258" name="Google Shape;25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8374" y="32600"/>
              <a:ext cx="4027474" cy="2893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43"/>
            <p:cNvSpPr/>
            <p:nvPr/>
          </p:nvSpPr>
          <p:spPr>
            <a:xfrm>
              <a:off x="200400" y="1463050"/>
              <a:ext cx="4033500" cy="670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0" name="Google Shape;260;p43"/>
          <p:cNvPicPr preferRelativeResize="0"/>
          <p:nvPr/>
        </p:nvPicPr>
        <p:blipFill rotWithShape="1">
          <a:blip r:embed="rId4">
            <a:alphaModFix/>
          </a:blip>
          <a:srcRect b="0" l="34277" r="1496" t="0"/>
          <a:stretch/>
        </p:blipFill>
        <p:spPr>
          <a:xfrm>
            <a:off x="2172474" y="4417925"/>
            <a:ext cx="4799051" cy="3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3"/>
          <p:cNvSpPr/>
          <p:nvPr/>
        </p:nvSpPr>
        <p:spPr>
          <a:xfrm>
            <a:off x="2029650" y="3297275"/>
            <a:ext cx="942900" cy="552600"/>
          </a:xfrm>
          <a:prstGeom prst="ellipse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3"/>
          <p:cNvSpPr/>
          <p:nvPr/>
        </p:nvSpPr>
        <p:spPr>
          <a:xfrm>
            <a:off x="5659900" y="4417975"/>
            <a:ext cx="1311600" cy="345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3"/>
          <p:cNvSpPr/>
          <p:nvPr/>
        </p:nvSpPr>
        <p:spPr>
          <a:xfrm>
            <a:off x="4572000" y="4314325"/>
            <a:ext cx="1153200" cy="552600"/>
          </a:xfrm>
          <a:prstGeom prst="ellipse">
            <a:avLst/>
          </a:prstGeom>
          <a:noFill/>
          <a:ln cap="flat" cmpd="sng" w="28575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