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2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12.xml.rels" ContentType="application/vnd.openxmlformats-package.relationships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4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10.png" ContentType="image/png"/>
  <Override PartName="/ppt/media/image2.jpeg" ContentType="image/jpeg"/>
  <Override PartName="/ppt/media/image3.jpeg" ContentType="image/jpeg"/>
  <Override PartName="/ppt/media/image4.jpeg" ContentType="image/jpe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34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31.xml.rels" ContentType="application/vnd.openxmlformats-package.relationships+xml"/>
  <Override PartName="/ppt/slides/_rels/slide15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20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7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381240" y="694800"/>
            <a:ext cx="6095160" cy="34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move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edit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not</a:t>
            </a:r>
            <a:r>
              <a:rPr b="0" lang="en-US" sz="2000" spc="-1" strike="noStrike">
                <a:latin typeface="Arial"/>
              </a:rPr>
              <a:t>es </a:t>
            </a:r>
            <a:r>
              <a:rPr b="0" lang="en-US" sz="2000" spc="-1" strike="noStrike">
                <a:latin typeface="Arial"/>
              </a:rPr>
              <a:t>for</a:t>
            </a:r>
            <a:r>
              <a:rPr b="0" lang="en-US" sz="2000" spc="-1" strike="noStrike">
                <a:latin typeface="Arial"/>
              </a:rPr>
              <a:t>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576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 type="dt" idx="7"/>
          </p:nvPr>
        </p:nvSpPr>
        <p:spPr>
          <a:xfrm>
            <a:off x="3881880" y="0"/>
            <a:ext cx="297576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39" name="PlaceHolder 5"/>
          <p:cNvSpPr>
            <a:spLocks noGrp="1"/>
          </p:cNvSpPr>
          <p:nvPr>
            <p:ph type="ftr" idx="8"/>
          </p:nvPr>
        </p:nvSpPr>
        <p:spPr>
          <a:xfrm>
            <a:off x="0" y="8686800"/>
            <a:ext cx="297576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40" name="PlaceHolder 6"/>
          <p:cNvSpPr>
            <a:spLocks noGrp="1"/>
          </p:cNvSpPr>
          <p:nvPr>
            <p:ph type="sldNum" idx="9"/>
          </p:nvPr>
        </p:nvSpPr>
        <p:spPr>
          <a:xfrm>
            <a:off x="3881880" y="8686800"/>
            <a:ext cx="297576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8D90F3D-EEB3-4808-AE5B-1E15F670701B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Data movement and access is a recurring theme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Remember the von Neumann architecture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Registers are smallest memory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CPU requesting memory in registers is fast. Requesting memory in RAM is slow.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CPU does it's "work" in the registers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Values probably still in register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Values probably still in register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Go back to CPU diagram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Go back to CPU diagram.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Don’t need to request from main memory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 </a:t>
            </a:r>
            <a:r>
              <a:rPr b="0" lang="en" sz="1100" spc="-1" strike="noStrike">
                <a:latin typeface="Arial"/>
              </a:rPr>
              <a:t>Is there anything else in the hierarchy?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This is no longer the CPU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Can also have L3 cache!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So far this seems like more work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A copy at every level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Lot aka parcel 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A house metaphor? In this economy??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Lot aka parcel 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Note “skip” in addresses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Why does memory structure matter?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Example: Cache line covers 16 addresses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Why does memory structure matter? Caching!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Example: Cache line covers 16 addresses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Who </a:t>
            </a:r>
            <a:r>
              <a:rPr b="1" lang="en" sz="1100" spc="-1" strike="noStrike">
                <a:latin typeface="Arial"/>
              </a:rPr>
              <a:t>isn’t</a:t>
            </a:r>
            <a:r>
              <a:rPr b="0" lang="en" sz="1100" spc="-1" strike="noStrike">
                <a:latin typeface="Arial"/>
              </a:rPr>
              <a:t> familiar with NumPy arrays?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Difference between tuples and lists? NumPy arrays?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A “type” designed to hold data of other “types”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All approaches require size &amp; type (even implicit)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Request one variable, get a line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Computers don’t handle this well!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Familiar for C/C++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Under the hood in Python (implemented in C)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Think: an array of pointers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Super flexible!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Keep this up while pivoting to diagramming exercises.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Which has greater cache reuse?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CD9672C-FC72-486E-A3C4-A6C3264DE1C9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DB23CB5-3E61-4A07-9CB4-E68F7D5C9D0A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E5D3C9F-6E09-4733-A0FF-350CA640405B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6558575-5A25-4BE4-BF78-0E8AA6D31EEC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BD62328-D579-477C-9A29-58B997879D6A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A0B0ECC-6795-48E3-B725-306B90B3D54D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A19BC3F-227F-4385-8103-0568B81C769B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E030FEA-2E04-4102-8D39-1AB2EC1037AF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56BF6BD-7604-4606-9D6B-5EF76073E9E2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4A9480A-EFA0-4CC2-96B5-890E95161BCF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B464816-1C9A-4B48-9AB2-4B88126C56DF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7469103-5C71-40AB-BE64-549F66F6A036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658ADF4-0472-4498-A715-5D269EC07F2D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3E3035-AE08-4947-8A31-083B12EF4D50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3399E7-1219-4789-8762-650E10B27CA3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1910B4-9EE3-4A4D-9EEB-4F5111B24A2E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A4874AA-6EFC-420C-B8EF-30851485A221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2145E7-DD77-4F43-9CD4-7463345100E4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8B4206-0EEE-46D4-BFBF-FA0BD5864EAE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1B5B80-A9F3-4CF3-A974-8BF8D42E7600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BCF6A7-FD2F-40F3-8934-C1BE4D23895F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20DD36-02EB-4A51-9F9D-89B2C8F3394B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E3D050-5600-48CE-9374-ED0DE7364ECD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4076CC-3346-465C-BCA4-024EC254AB3E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02170E-689D-4443-93B9-F1430504C712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3C6BA2-7C10-49D1-9136-235D30C4F615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3DCECF-033D-4AAB-A0FD-457D1654FD16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34F7D3-C5E4-4B55-BBE5-89709E94046F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D5A0C3-0D23-4DD4-AB35-EB2510C76436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311960-FEFE-412B-8F97-6447F583E701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C9E656-C6EE-49B9-B87F-D15BA8509D70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28254E-811A-4D8E-A92C-1863050E264A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2C9DDE-3FCB-49CE-9B55-CD3EFD2F3A24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973EDE-768E-4822-893D-A916AEA1A5D2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4EFF94-3A8D-473B-BF53-DFA6FC3BF16A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9EBBB0-E3A3-4AC4-8144-10408CB64A87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2E974CA-7817-4D7F-AD22-5A055DF183AC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7355A76-DF0A-4B01-BDA7-FC803C49ADDE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3A21DB8-8271-4E2B-8299-F4CC3212B6E2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0744019-B5E4-4D29-B54A-8B4D9584A3BB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F74A001-4260-4A8E-8AE7-0A9898967101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ABB14A9-5164-4545-9C9B-95DEE07EACD6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D59F33A-1F53-4E58-90BC-3A88A3C8CD66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DC5D2C1-99BA-45D6-8557-9C5E50589E90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3EB94E8-26EE-4D57-86E4-30EDD5EFA58B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F89DC42-C24A-46A0-A40B-19EA4276709E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A7A0C9D-83CC-49D5-8C32-113AB97BA0C5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7"/>
          <p:cNvSpPr>
            <a:spLocks noGrp="1"/>
          </p:cNvSpPr>
          <p:nvPr>
            <p:ph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B3FDA5E-F281-4E20-89D1-8F7C2F1C57E0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D65BD9D-12CD-49D8-831C-13234F724C35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41B341C-38B2-4B64-9291-27F3748EA35A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2E621B2-ECF9-4DBE-A3EF-D2C44F93A8E3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A23CA95-622C-4E6E-987B-0CBCFAFE67D6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D4DAC26-D0B1-49AE-8F76-1CAB4E7E3FDB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CC8C5D0-5652-4CCA-80C8-133ABE5120DD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A7D60B2-9C59-4655-A416-6754B0316829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E671954-A6B3-4985-9853-47FC3FA9EE3E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9046846-C9AF-41E5-8757-8A3A682CF56E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C8F25C8-F9EE-411A-ADCE-870EED6A71A4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C30E3C9-5F89-4471-8B61-247A4DA8BFB3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6"/>
          <p:cNvSpPr>
            <a:spLocks noGrp="1"/>
          </p:cNvSpPr>
          <p:nvPr>
            <p:ph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7"/>
          <p:cNvSpPr>
            <a:spLocks noGrp="1"/>
          </p:cNvSpPr>
          <p:nvPr>
            <p:ph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06804DC-9BE3-48CB-9035-179C1A266A50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6FC47A-A36A-4869-A686-914C0DB7A57F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4DE8D4-F1CF-4BD4-82D7-006ABBD3F22E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5E615A-3BA2-490E-932E-F5465FE81D32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9D42F3-1454-43BC-BE06-EDB6601D6924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303C5A-BE32-4F7A-A5C9-17DADA629DE1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61CFA3-7DF6-4743-89D9-CB2A86083040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094BCB-DBA3-425E-9C43-60DE0E219F4F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EA2E2C-ADA6-430C-96B4-A2651A75B504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4918B4-5260-4239-839F-744E322C120A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A71F83-7292-4470-9CBD-558D105AFC98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545E10-CAB7-4AEA-952F-D2D0A5214D91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7"/>
          <p:cNvSpPr>
            <a:spLocks noGrp="1"/>
          </p:cNvSpPr>
          <p:nvPr>
            <p:ph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7EA457-C124-4860-A658-07FD78FF7C8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EEF9B12-A979-48EC-A7D8-9CAF10C0FA47}" type="slidenum">
              <a:rPr b="0" lang="en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C8ACD8C-E693-4F89-A8D8-478D639F34F5}" type="slidenum">
              <a:rPr b="0" lang="en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87D9FCA-E349-4F98-BC5A-8AFF344FBC1E}" type="slidenum">
              <a:rPr b="0" lang="en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rmAutofit/>
          </a:bodyPr>
          <a:p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89B4515-7D12-4202-85DE-C491A48DB09B}" type="slidenum">
              <a:rPr b="0" lang="en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8736CB8-CB05-4DDB-8DE6-9114A853D458}" type="slidenum">
              <a:rPr b="0" lang="en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FBDC56C-914E-448A-BDAE-834A354664D8}" type="slidenum">
              <a:rPr b="0" lang="en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9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5.xml"/><Relationship Id="rId7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D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y 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0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2 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- 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M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e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m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or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y 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&amp; 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P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er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fo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r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m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n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c</a:t>
            </a: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e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18291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595959"/>
                </a:solidFill>
                <a:latin typeface="Arial"/>
                <a:ea typeface="Arial"/>
              </a:rPr>
              <a:t>Ho</a:t>
            </a:r>
            <a:r>
              <a:rPr b="0" lang="en" sz="2800" spc="-1" strike="noStrike">
                <a:solidFill>
                  <a:srgbClr val="595959"/>
                </a:solidFill>
                <a:latin typeface="Arial"/>
                <a:ea typeface="Arial"/>
              </a:rPr>
              <a:t>w </a:t>
            </a:r>
            <a:r>
              <a:rPr b="0" lang="en" sz="2800" spc="-1" strike="noStrike">
                <a:solidFill>
                  <a:srgbClr val="595959"/>
                </a:solidFill>
                <a:latin typeface="Arial"/>
                <a:ea typeface="Arial"/>
              </a:rPr>
              <a:t>me</a:t>
            </a:r>
            <a:r>
              <a:rPr b="0" lang="en" sz="2800" spc="-1" strike="noStrike">
                <a:solidFill>
                  <a:srgbClr val="595959"/>
                </a:solidFill>
                <a:latin typeface="Arial"/>
                <a:ea typeface="Arial"/>
              </a:rPr>
              <a:t>mor</a:t>
            </a:r>
            <a:r>
              <a:rPr b="0" lang="en" sz="2800" spc="-1" strike="noStrike">
                <a:solidFill>
                  <a:srgbClr val="595959"/>
                </a:solidFill>
                <a:latin typeface="Arial"/>
                <a:ea typeface="Arial"/>
              </a:rPr>
              <a:t>y </a:t>
            </a:r>
            <a:r>
              <a:rPr b="0" lang="en" sz="2800" spc="-1" strike="noStrike">
                <a:solidFill>
                  <a:srgbClr val="595959"/>
                </a:solidFill>
                <a:latin typeface="Arial"/>
                <a:ea typeface="Arial"/>
              </a:rPr>
              <a:t>lay</a:t>
            </a:r>
            <a:r>
              <a:rPr b="0" lang="en" sz="2800" spc="-1" strike="noStrike">
                <a:solidFill>
                  <a:srgbClr val="595959"/>
                </a:solidFill>
                <a:latin typeface="Arial"/>
                <a:ea typeface="Arial"/>
              </a:rPr>
              <a:t>out </a:t>
            </a:r>
            <a:r>
              <a:rPr b="0" lang="en" sz="2800" spc="-1" strike="noStrike">
                <a:solidFill>
                  <a:srgbClr val="595959"/>
                </a:solidFill>
                <a:latin typeface="Arial"/>
                <a:ea typeface="Arial"/>
              </a:rPr>
              <a:t>affe</a:t>
            </a:r>
            <a:r>
              <a:rPr b="0" lang="en" sz="2800" spc="-1" strike="noStrike">
                <a:solidFill>
                  <a:srgbClr val="595959"/>
                </a:solidFill>
                <a:latin typeface="Arial"/>
                <a:ea typeface="Arial"/>
              </a:rPr>
              <a:t>cts </a:t>
            </a:r>
            <a:r>
              <a:rPr b="0" lang="en" sz="2800" spc="-1" strike="noStrike">
                <a:solidFill>
                  <a:srgbClr val="595959"/>
                </a:solidFill>
                <a:latin typeface="Arial"/>
                <a:ea typeface="Arial"/>
              </a:rPr>
              <a:t>our </a:t>
            </a:r>
            <a:r>
              <a:rPr b="0" lang="en" sz="2800" spc="-1" strike="noStrike">
                <a:solidFill>
                  <a:srgbClr val="595959"/>
                </a:solidFill>
                <a:latin typeface="Arial"/>
                <a:ea typeface="Arial"/>
              </a:rPr>
              <a:t>cod</a:t>
            </a:r>
            <a:r>
              <a:rPr b="0" lang="en" sz="2800" spc="-1" strike="noStrike">
                <a:solidFill>
                  <a:srgbClr val="595959"/>
                </a:solidFill>
                <a:latin typeface="Arial"/>
                <a:ea typeface="Arial"/>
              </a:rPr>
              <a:t>e</a:t>
            </a:r>
            <a:endParaRPr b="0" lang="en-US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595959"/>
                </a:solidFill>
                <a:latin typeface="Arial"/>
                <a:ea typeface="Arial"/>
              </a:rPr>
              <a:t>09/</a:t>
            </a:r>
            <a:r>
              <a:rPr b="0" lang="en" sz="2800" spc="-1" strike="noStrike">
                <a:solidFill>
                  <a:srgbClr val="595959"/>
                </a:solidFill>
                <a:latin typeface="Arial"/>
                <a:ea typeface="Arial"/>
              </a:rPr>
              <a:t>05/</a:t>
            </a:r>
            <a:r>
              <a:rPr b="0" lang="en" sz="2800" spc="-1" strike="noStrike">
                <a:solidFill>
                  <a:srgbClr val="595959"/>
                </a:solidFill>
                <a:latin typeface="Arial"/>
                <a:ea typeface="Arial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Ov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ervi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ew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We’ll cover: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How computers carry out instructions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How memory is organized across a computer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How data moves through a computer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With computers, there’s always more detail and caveats you can dive into.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We’ll keep this at a moderate level of detail.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von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Ne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um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ann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Arc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hite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ctur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The design framework used by most modern computers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Memory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stores both </a:t>
            </a:r>
            <a:r>
              <a:rPr b="0" i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program instructions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and </a:t>
            </a:r>
            <a:r>
              <a:rPr b="0" i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Processing unit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executes </a:t>
            </a:r>
            <a:r>
              <a:rPr b="0" i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instructions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on the </a:t>
            </a:r>
            <a:r>
              <a:rPr b="0" i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Processing cycle: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Fetch 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Execute instructions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Store result 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Pro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ces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sin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g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Cyc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Example: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	</a:t>
            </a: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c = a + 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Fetch (load) the value of 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Fetch the value of 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Execute “add” operation on a and 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Store the result to the variable 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311760" y="2235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Pro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ces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sin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g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Cyc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Google Shape;108;p22"/>
          <p:cNvSpPr/>
          <p:nvPr/>
        </p:nvSpPr>
        <p:spPr>
          <a:xfrm>
            <a:off x="487800" y="1197000"/>
            <a:ext cx="3470040" cy="3470040"/>
          </a:xfrm>
          <a:prstGeom prst="rect">
            <a:avLst/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Arial"/>
                <a:ea typeface="Arial"/>
              </a:rPr>
              <a:t>Main Memory</a:t>
            </a:r>
            <a:endParaRPr b="0" lang="en-US" sz="1600" spc="-1" strike="noStrike">
              <a:latin typeface="Arial"/>
            </a:endParaRPr>
          </a:p>
        </p:txBody>
      </p:sp>
      <p:grpSp>
        <p:nvGrpSpPr>
          <p:cNvPr id="251" name="Google Shape;109;p22"/>
          <p:cNvGrpSpPr/>
          <p:nvPr/>
        </p:nvGrpSpPr>
        <p:grpSpPr>
          <a:xfrm>
            <a:off x="4259160" y="1197000"/>
            <a:ext cx="4222440" cy="3470040"/>
            <a:chOff x="4259160" y="1197000"/>
            <a:chExt cx="4222440" cy="3470040"/>
          </a:xfrm>
        </p:grpSpPr>
        <p:sp>
          <p:nvSpPr>
            <p:cNvPr id="252" name="Google Shape;110;p22"/>
            <p:cNvSpPr/>
            <p:nvPr/>
          </p:nvSpPr>
          <p:spPr>
            <a:xfrm>
              <a:off x="4259160" y="1197000"/>
              <a:ext cx="4222440" cy="347004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Central Processing Unit</a:t>
              </a:r>
              <a:endParaRPr b="0" lang="en-US" sz="1600" spc="-1" strike="noStrike">
                <a:latin typeface="Arial"/>
              </a:endParaRPr>
            </a:p>
          </p:txBody>
        </p:sp>
        <p:sp>
          <p:nvSpPr>
            <p:cNvPr id="253" name="Google Shape;111;p22"/>
            <p:cNvSpPr/>
            <p:nvPr/>
          </p:nvSpPr>
          <p:spPr>
            <a:xfrm>
              <a:off x="4568760" y="1816560"/>
              <a:ext cx="1619640" cy="1088640"/>
            </a:xfrm>
            <a:prstGeom prst="rect">
              <a:avLst/>
            </a:prstGeom>
            <a:solidFill>
              <a:srgbClr val="f4cccc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Control Unit (CU)</a:t>
              </a:r>
              <a:endParaRPr b="0" lang="en-US" sz="1400" spc="-1" strike="noStrike">
                <a:latin typeface="Arial"/>
              </a:endParaRPr>
            </a:p>
          </p:txBody>
        </p:sp>
      </p:grpSp>
      <p:sp>
        <p:nvSpPr>
          <p:cNvPr id="254" name="Google Shape;112;p22"/>
          <p:cNvSpPr/>
          <p:nvPr/>
        </p:nvSpPr>
        <p:spPr>
          <a:xfrm>
            <a:off x="6233040" y="2152800"/>
            <a:ext cx="1717200" cy="725760"/>
          </a:xfrm>
          <a:prstGeom prst="wedgeRoundRectCallout">
            <a:avLst>
              <a:gd name="adj1" fmla="val -59793"/>
              <a:gd name="adj2" fmla="val 13406"/>
              <a:gd name="adj3" fmla="val 0"/>
            </a:avLst>
          </a:prstGeom>
          <a:solidFill>
            <a:schemeClr val="lt1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What are my instructions?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55" name="Google Shape;113;p22"/>
          <p:cNvSpPr/>
          <p:nvPr/>
        </p:nvSpPr>
        <p:spPr>
          <a:xfrm rot="10800000">
            <a:off x="3834360" y="2360520"/>
            <a:ext cx="7344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Google Shape;114;p22"/>
          <p:cNvSpPr/>
          <p:nvPr/>
        </p:nvSpPr>
        <p:spPr>
          <a:xfrm>
            <a:off x="2815920" y="1325520"/>
            <a:ext cx="1380960" cy="645840"/>
          </a:xfrm>
          <a:prstGeom prst="wedgeRoundRectCallout">
            <a:avLst>
              <a:gd name="adj1" fmla="val -76920"/>
              <a:gd name="adj2" fmla="val 693"/>
              <a:gd name="adj3" fmla="val 0"/>
            </a:avLst>
          </a:prstGeom>
          <a:solidFill>
            <a:schemeClr val="lt1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Here’s your instructions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57" name="Google Shape;115;p22"/>
          <p:cNvSpPr/>
          <p:nvPr/>
        </p:nvSpPr>
        <p:spPr>
          <a:xfrm>
            <a:off x="487800" y="1792800"/>
            <a:ext cx="3050280" cy="9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Instructions:</a:t>
            </a:r>
            <a:r>
              <a:rPr b="0" lang="en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c = a + b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8" name="Google Shape;116;p22"/>
          <p:cNvSpPr/>
          <p:nvPr/>
        </p:nvSpPr>
        <p:spPr>
          <a:xfrm>
            <a:off x="642600" y="3423600"/>
            <a:ext cx="2740320" cy="8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Data: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b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9" name="Google Shape;117;p22"/>
          <p:cNvSpPr/>
          <p:nvPr/>
        </p:nvSpPr>
        <p:spPr>
          <a:xfrm>
            <a:off x="6525360" y="3181680"/>
            <a:ext cx="1619640" cy="1088640"/>
          </a:xfrm>
          <a:prstGeom prst="rect">
            <a:avLst/>
          </a:prstGeom>
          <a:solidFill>
            <a:srgbClr val="b6d7a8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60" name="Google Shape;118;p22"/>
          <p:cNvSpPr/>
          <p:nvPr/>
        </p:nvSpPr>
        <p:spPr>
          <a:xfrm>
            <a:off x="6666840" y="3593520"/>
            <a:ext cx="13363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c = a + 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61" name="Google Shape;119;p22"/>
          <p:cNvSpPr/>
          <p:nvPr/>
        </p:nvSpPr>
        <p:spPr>
          <a:xfrm>
            <a:off x="3878280" y="3735000"/>
            <a:ext cx="690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311760" y="2235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Pro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ces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sin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g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Cyc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le -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Fet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ch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Google Shape;125;p23"/>
          <p:cNvSpPr/>
          <p:nvPr/>
        </p:nvSpPr>
        <p:spPr>
          <a:xfrm>
            <a:off x="487800" y="1197000"/>
            <a:ext cx="3470040" cy="3470040"/>
          </a:xfrm>
          <a:prstGeom prst="rect">
            <a:avLst/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Arial"/>
                <a:ea typeface="Arial"/>
              </a:rPr>
              <a:t>Main Memory</a:t>
            </a:r>
            <a:endParaRPr b="0" lang="en-US" sz="1600" spc="-1" strike="noStrike">
              <a:latin typeface="Arial"/>
            </a:endParaRPr>
          </a:p>
        </p:txBody>
      </p:sp>
      <p:grpSp>
        <p:nvGrpSpPr>
          <p:cNvPr id="264" name="Google Shape;126;p23"/>
          <p:cNvGrpSpPr/>
          <p:nvPr/>
        </p:nvGrpSpPr>
        <p:grpSpPr>
          <a:xfrm>
            <a:off x="4259160" y="1197000"/>
            <a:ext cx="4222440" cy="3470040"/>
            <a:chOff x="4259160" y="1197000"/>
            <a:chExt cx="4222440" cy="3470040"/>
          </a:xfrm>
        </p:grpSpPr>
        <p:sp>
          <p:nvSpPr>
            <p:cNvPr id="265" name="Google Shape;127;p23"/>
            <p:cNvSpPr/>
            <p:nvPr/>
          </p:nvSpPr>
          <p:spPr>
            <a:xfrm>
              <a:off x="4259160" y="1197000"/>
              <a:ext cx="4222440" cy="347004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Central Processing Unit</a:t>
              </a:r>
              <a:endParaRPr b="0" lang="en-US" sz="1600" spc="-1" strike="noStrike">
                <a:latin typeface="Arial"/>
              </a:endParaRPr>
            </a:p>
          </p:txBody>
        </p:sp>
        <p:sp>
          <p:nvSpPr>
            <p:cNvPr id="266" name="Google Shape;128;p23"/>
            <p:cNvSpPr/>
            <p:nvPr/>
          </p:nvSpPr>
          <p:spPr>
            <a:xfrm>
              <a:off x="4568760" y="1816560"/>
              <a:ext cx="1619640" cy="1088640"/>
            </a:xfrm>
            <a:prstGeom prst="rect">
              <a:avLst/>
            </a:prstGeom>
            <a:solidFill>
              <a:srgbClr val="f4cccc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Control Unit (CU)</a:t>
              </a:r>
              <a:endParaRPr b="0" lang="en-US" sz="1400" spc="-1" strike="noStrike">
                <a:latin typeface="Arial"/>
              </a:endParaRPr>
            </a:p>
          </p:txBody>
        </p:sp>
      </p:grpSp>
      <p:sp>
        <p:nvSpPr>
          <p:cNvPr id="267" name="Google Shape;129;p23"/>
          <p:cNvSpPr/>
          <p:nvPr/>
        </p:nvSpPr>
        <p:spPr>
          <a:xfrm>
            <a:off x="6233040" y="2152800"/>
            <a:ext cx="1717200" cy="725760"/>
          </a:xfrm>
          <a:prstGeom prst="wedgeRoundRectCallout">
            <a:avLst>
              <a:gd name="adj1" fmla="val -59793"/>
              <a:gd name="adj2" fmla="val 13406"/>
              <a:gd name="adj3" fmla="val 0"/>
            </a:avLst>
          </a:prstGeom>
          <a:solidFill>
            <a:schemeClr val="lt1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I need to fetch </a:t>
            </a: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68" name="Google Shape;130;p23"/>
          <p:cNvSpPr/>
          <p:nvPr/>
        </p:nvSpPr>
        <p:spPr>
          <a:xfrm rot="10800000">
            <a:off x="3834360" y="2360520"/>
            <a:ext cx="7344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Google Shape;131;p23"/>
          <p:cNvSpPr/>
          <p:nvPr/>
        </p:nvSpPr>
        <p:spPr>
          <a:xfrm>
            <a:off x="3878280" y="3735000"/>
            <a:ext cx="690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Google Shape;133;p23"/>
          <p:cNvSpPr/>
          <p:nvPr/>
        </p:nvSpPr>
        <p:spPr>
          <a:xfrm>
            <a:off x="487800" y="1792800"/>
            <a:ext cx="3050280" cy="9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Instructions:</a:t>
            </a:r>
            <a:r>
              <a:rPr b="0" lang="en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c = a + b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1" name="Google Shape;134;p23"/>
          <p:cNvSpPr/>
          <p:nvPr/>
        </p:nvSpPr>
        <p:spPr>
          <a:xfrm>
            <a:off x="642600" y="3423600"/>
            <a:ext cx="2740320" cy="8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Data: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b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2" name="Google Shape;135;p23"/>
          <p:cNvSpPr/>
          <p:nvPr/>
        </p:nvSpPr>
        <p:spPr>
          <a:xfrm>
            <a:off x="6525360" y="3181680"/>
            <a:ext cx="1619640" cy="1088640"/>
          </a:xfrm>
          <a:prstGeom prst="rect">
            <a:avLst/>
          </a:prstGeom>
          <a:solidFill>
            <a:srgbClr val="b6d7a8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73" name="Google Shape;136;p23"/>
          <p:cNvSpPr/>
          <p:nvPr/>
        </p:nvSpPr>
        <p:spPr>
          <a:xfrm>
            <a:off x="6612120" y="3923280"/>
            <a:ext cx="362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74" name="Google Shape;137;p23"/>
          <p:cNvSpPr/>
          <p:nvPr/>
        </p:nvSpPr>
        <p:spPr>
          <a:xfrm>
            <a:off x="2815920" y="1325520"/>
            <a:ext cx="1380960" cy="645840"/>
          </a:xfrm>
          <a:prstGeom prst="wedgeRoundRectCallout">
            <a:avLst>
              <a:gd name="adj1" fmla="val -76920"/>
              <a:gd name="adj2" fmla="val 693"/>
              <a:gd name="adj3" fmla="val 0"/>
            </a:avLst>
          </a:prstGeom>
          <a:solidFill>
            <a:schemeClr val="lt1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Ok, here’s </a:t>
            </a: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75" name="Google Shape;138;p23"/>
          <p:cNvSpPr/>
          <p:nvPr/>
        </p:nvSpPr>
        <p:spPr>
          <a:xfrm>
            <a:off x="6666840" y="3593520"/>
            <a:ext cx="13363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c = a + b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" dur="indefinite" restart="never" nodeType="tmRoot">
          <p:childTnLst>
            <p:seq>
              <p:cTn id="28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311760" y="2235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Pro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ces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sin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g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Cyc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le -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Fet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ch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Google Shape;144;p24"/>
          <p:cNvSpPr/>
          <p:nvPr/>
        </p:nvSpPr>
        <p:spPr>
          <a:xfrm>
            <a:off x="487800" y="1197000"/>
            <a:ext cx="3470040" cy="3470040"/>
          </a:xfrm>
          <a:prstGeom prst="rect">
            <a:avLst/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Arial"/>
                <a:ea typeface="Arial"/>
              </a:rPr>
              <a:t>Main Memory</a:t>
            </a:r>
            <a:endParaRPr b="0" lang="en-US" sz="1600" spc="-1" strike="noStrike">
              <a:latin typeface="Arial"/>
            </a:endParaRPr>
          </a:p>
        </p:txBody>
      </p:sp>
      <p:grpSp>
        <p:nvGrpSpPr>
          <p:cNvPr id="278" name="Google Shape;145;p24"/>
          <p:cNvGrpSpPr/>
          <p:nvPr/>
        </p:nvGrpSpPr>
        <p:grpSpPr>
          <a:xfrm>
            <a:off x="4259160" y="1197000"/>
            <a:ext cx="4222440" cy="3470040"/>
            <a:chOff x="4259160" y="1197000"/>
            <a:chExt cx="4222440" cy="3470040"/>
          </a:xfrm>
        </p:grpSpPr>
        <p:sp>
          <p:nvSpPr>
            <p:cNvPr id="279" name="Google Shape;146;p24"/>
            <p:cNvSpPr/>
            <p:nvPr/>
          </p:nvSpPr>
          <p:spPr>
            <a:xfrm>
              <a:off x="4259160" y="1197000"/>
              <a:ext cx="4222440" cy="347004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Central Processing Unit</a:t>
              </a:r>
              <a:endParaRPr b="0" lang="en-US" sz="1600" spc="-1" strike="noStrike">
                <a:latin typeface="Arial"/>
              </a:endParaRPr>
            </a:p>
          </p:txBody>
        </p:sp>
        <p:sp>
          <p:nvSpPr>
            <p:cNvPr id="280" name="Google Shape;147;p24"/>
            <p:cNvSpPr/>
            <p:nvPr/>
          </p:nvSpPr>
          <p:spPr>
            <a:xfrm>
              <a:off x="4568760" y="1816560"/>
              <a:ext cx="1619640" cy="1088640"/>
            </a:xfrm>
            <a:prstGeom prst="rect">
              <a:avLst/>
            </a:prstGeom>
            <a:solidFill>
              <a:srgbClr val="f4cccc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Control Unit (CU)</a:t>
              </a:r>
              <a:endParaRPr b="0" lang="en-US" sz="1400" spc="-1" strike="noStrike">
                <a:latin typeface="Arial"/>
              </a:endParaRPr>
            </a:p>
          </p:txBody>
        </p:sp>
      </p:grpSp>
      <p:sp>
        <p:nvSpPr>
          <p:cNvPr id="281" name="Google Shape;148;p24"/>
          <p:cNvSpPr/>
          <p:nvPr/>
        </p:nvSpPr>
        <p:spPr>
          <a:xfrm>
            <a:off x="6233040" y="2152800"/>
            <a:ext cx="1717200" cy="725760"/>
          </a:xfrm>
          <a:prstGeom prst="wedgeRoundRectCallout">
            <a:avLst>
              <a:gd name="adj1" fmla="val -59793"/>
              <a:gd name="adj2" fmla="val 13406"/>
              <a:gd name="adj3" fmla="val 0"/>
            </a:avLst>
          </a:prstGeom>
          <a:solidFill>
            <a:schemeClr val="lt1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Also I need </a:t>
            </a: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82" name="Google Shape;149;p24"/>
          <p:cNvSpPr/>
          <p:nvPr/>
        </p:nvSpPr>
        <p:spPr>
          <a:xfrm rot="10800000">
            <a:off x="3834360" y="2360520"/>
            <a:ext cx="7344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Google Shape;150;p24"/>
          <p:cNvSpPr/>
          <p:nvPr/>
        </p:nvSpPr>
        <p:spPr>
          <a:xfrm>
            <a:off x="3878280" y="3735000"/>
            <a:ext cx="690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Google Shape;152;p24"/>
          <p:cNvSpPr/>
          <p:nvPr/>
        </p:nvSpPr>
        <p:spPr>
          <a:xfrm>
            <a:off x="487800" y="1792800"/>
            <a:ext cx="3050280" cy="9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Instructions:</a:t>
            </a:r>
            <a:r>
              <a:rPr b="0" lang="en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c = a + b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5" name="Google Shape;153;p24"/>
          <p:cNvSpPr/>
          <p:nvPr/>
        </p:nvSpPr>
        <p:spPr>
          <a:xfrm>
            <a:off x="642600" y="3423600"/>
            <a:ext cx="2740320" cy="8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Data: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b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6" name="Google Shape;154;p24"/>
          <p:cNvSpPr/>
          <p:nvPr/>
        </p:nvSpPr>
        <p:spPr>
          <a:xfrm>
            <a:off x="6525360" y="3181680"/>
            <a:ext cx="1619640" cy="1088640"/>
          </a:xfrm>
          <a:prstGeom prst="rect">
            <a:avLst/>
          </a:prstGeom>
          <a:solidFill>
            <a:srgbClr val="b6d7a8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87" name="Google Shape;155;p24"/>
          <p:cNvSpPr/>
          <p:nvPr/>
        </p:nvSpPr>
        <p:spPr>
          <a:xfrm>
            <a:off x="7153920" y="3923280"/>
            <a:ext cx="362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88" name="Google Shape;156;p24"/>
          <p:cNvSpPr/>
          <p:nvPr/>
        </p:nvSpPr>
        <p:spPr>
          <a:xfrm>
            <a:off x="6612120" y="3923280"/>
            <a:ext cx="362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89" name="Google Shape;157;p24"/>
          <p:cNvSpPr/>
          <p:nvPr/>
        </p:nvSpPr>
        <p:spPr>
          <a:xfrm>
            <a:off x="6666840" y="3593520"/>
            <a:ext cx="13363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c = a + b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" dur="indefinite" restart="never" nodeType="tmRoot">
          <p:childTnLst>
            <p:seq>
              <p:cTn id="50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311760" y="2235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Pro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ces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sin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g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Cyc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le -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Exe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cut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Google Shape;163;p25"/>
          <p:cNvSpPr/>
          <p:nvPr/>
        </p:nvSpPr>
        <p:spPr>
          <a:xfrm>
            <a:off x="487800" y="1197000"/>
            <a:ext cx="3470040" cy="3470040"/>
          </a:xfrm>
          <a:prstGeom prst="rect">
            <a:avLst/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Arial"/>
                <a:ea typeface="Arial"/>
              </a:rPr>
              <a:t>Main Memory</a:t>
            </a:r>
            <a:endParaRPr b="0" lang="en-US" sz="1600" spc="-1" strike="noStrike">
              <a:latin typeface="Arial"/>
            </a:endParaRPr>
          </a:p>
        </p:txBody>
      </p:sp>
      <p:grpSp>
        <p:nvGrpSpPr>
          <p:cNvPr id="292" name="Google Shape;164;p25"/>
          <p:cNvGrpSpPr/>
          <p:nvPr/>
        </p:nvGrpSpPr>
        <p:grpSpPr>
          <a:xfrm>
            <a:off x="4259160" y="1197000"/>
            <a:ext cx="4222440" cy="3470040"/>
            <a:chOff x="4259160" y="1197000"/>
            <a:chExt cx="4222440" cy="3470040"/>
          </a:xfrm>
        </p:grpSpPr>
        <p:sp>
          <p:nvSpPr>
            <p:cNvPr id="293" name="Google Shape;165;p25"/>
            <p:cNvSpPr/>
            <p:nvPr/>
          </p:nvSpPr>
          <p:spPr>
            <a:xfrm>
              <a:off x="4259160" y="1197000"/>
              <a:ext cx="4222440" cy="347004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Central Processing Unit</a:t>
              </a:r>
              <a:endParaRPr b="0" lang="en-US" sz="1600" spc="-1" strike="noStrike">
                <a:latin typeface="Arial"/>
              </a:endParaRPr>
            </a:p>
          </p:txBody>
        </p:sp>
        <p:sp>
          <p:nvSpPr>
            <p:cNvPr id="294" name="Google Shape;166;p25"/>
            <p:cNvSpPr/>
            <p:nvPr/>
          </p:nvSpPr>
          <p:spPr>
            <a:xfrm>
              <a:off x="4568760" y="1816560"/>
              <a:ext cx="1619640" cy="1088640"/>
            </a:xfrm>
            <a:prstGeom prst="rect">
              <a:avLst/>
            </a:prstGeom>
            <a:solidFill>
              <a:srgbClr val="f4cccc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Control Unit (CU)</a:t>
              </a:r>
              <a:endParaRPr b="0" lang="en-US" sz="1400" spc="-1" strike="noStrike">
                <a:latin typeface="Arial"/>
              </a:endParaRPr>
            </a:p>
          </p:txBody>
        </p:sp>
      </p:grpSp>
      <p:sp>
        <p:nvSpPr>
          <p:cNvPr id="295" name="Google Shape;167;p25"/>
          <p:cNvSpPr/>
          <p:nvPr/>
        </p:nvSpPr>
        <p:spPr>
          <a:xfrm>
            <a:off x="3333960" y="1267560"/>
            <a:ext cx="1717200" cy="725760"/>
          </a:xfrm>
          <a:prstGeom prst="wedgeRoundRectCallout">
            <a:avLst>
              <a:gd name="adj1" fmla="val 46131"/>
              <a:gd name="adj2" fmla="val 78030"/>
              <a:gd name="adj3" fmla="val 0"/>
            </a:avLst>
          </a:prstGeom>
          <a:solidFill>
            <a:schemeClr val="lt1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Time to </a:t>
            </a: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add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96" name="Google Shape;168;p25"/>
          <p:cNvSpPr/>
          <p:nvPr/>
        </p:nvSpPr>
        <p:spPr>
          <a:xfrm rot="10800000">
            <a:off x="7335000" y="2896920"/>
            <a:ext cx="360" cy="284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Google Shape;171;p25"/>
          <p:cNvSpPr/>
          <p:nvPr/>
        </p:nvSpPr>
        <p:spPr>
          <a:xfrm>
            <a:off x="487800" y="1792800"/>
            <a:ext cx="3050280" cy="9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Instructions:</a:t>
            </a:r>
            <a:r>
              <a:rPr b="0" lang="en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c = a + b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8" name="Google Shape;172;p25"/>
          <p:cNvSpPr/>
          <p:nvPr/>
        </p:nvSpPr>
        <p:spPr>
          <a:xfrm>
            <a:off x="642600" y="3423600"/>
            <a:ext cx="2740320" cy="8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Data: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b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9" name="Google Shape;170;p25"/>
          <p:cNvSpPr/>
          <p:nvPr/>
        </p:nvSpPr>
        <p:spPr>
          <a:xfrm>
            <a:off x="6525360" y="1825200"/>
            <a:ext cx="1619640" cy="1071000"/>
          </a:xfrm>
          <a:prstGeom prst="rect">
            <a:avLst/>
          </a:prstGeom>
          <a:solidFill>
            <a:srgbClr val="ffe599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Arithmetic Logic Unit (ALU)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00" name="Google Shape;169;p25"/>
          <p:cNvSpPr/>
          <p:nvPr/>
        </p:nvSpPr>
        <p:spPr>
          <a:xfrm>
            <a:off x="6525360" y="3181680"/>
            <a:ext cx="1619640" cy="1088640"/>
          </a:xfrm>
          <a:prstGeom prst="rect">
            <a:avLst/>
          </a:prstGeom>
          <a:solidFill>
            <a:srgbClr val="b6d7a8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01" name="Google Shape;173;p25"/>
          <p:cNvSpPr/>
          <p:nvPr/>
        </p:nvSpPr>
        <p:spPr>
          <a:xfrm>
            <a:off x="6612120" y="3923280"/>
            <a:ext cx="362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02" name="Google Shape;174;p25"/>
          <p:cNvSpPr/>
          <p:nvPr/>
        </p:nvSpPr>
        <p:spPr>
          <a:xfrm>
            <a:off x="6666840" y="3593520"/>
            <a:ext cx="13363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c = a + 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03" name="Google Shape;175;p25"/>
          <p:cNvSpPr/>
          <p:nvPr/>
        </p:nvSpPr>
        <p:spPr>
          <a:xfrm>
            <a:off x="7153920" y="3923280"/>
            <a:ext cx="362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04" name="Google Shape;176;p25"/>
          <p:cNvSpPr/>
          <p:nvPr/>
        </p:nvSpPr>
        <p:spPr>
          <a:xfrm>
            <a:off x="5383080" y="2940840"/>
            <a:ext cx="1141920" cy="785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7" dur="indefinite" restart="never" nodeType="tmRoot">
          <p:childTnLst>
            <p:seq>
              <p:cTn id="68" dur="indefinite" nodeType="mainSeq">
                <p:childTnLst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311760" y="2235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Pro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ces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sin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g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Cyc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le -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Sto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re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Google Shape;182;p26"/>
          <p:cNvSpPr/>
          <p:nvPr/>
        </p:nvSpPr>
        <p:spPr>
          <a:xfrm>
            <a:off x="487800" y="1197000"/>
            <a:ext cx="3470040" cy="3470040"/>
          </a:xfrm>
          <a:prstGeom prst="rect">
            <a:avLst/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Arial"/>
                <a:ea typeface="Arial"/>
              </a:rPr>
              <a:t>Main Memory</a:t>
            </a:r>
            <a:endParaRPr b="0" lang="en-US" sz="1600" spc="-1" strike="noStrike">
              <a:latin typeface="Arial"/>
            </a:endParaRPr>
          </a:p>
        </p:txBody>
      </p:sp>
      <p:grpSp>
        <p:nvGrpSpPr>
          <p:cNvPr id="307" name="Google Shape;183;p26"/>
          <p:cNvGrpSpPr/>
          <p:nvPr/>
        </p:nvGrpSpPr>
        <p:grpSpPr>
          <a:xfrm>
            <a:off x="4259160" y="1197000"/>
            <a:ext cx="4222440" cy="3470040"/>
            <a:chOff x="4259160" y="1197000"/>
            <a:chExt cx="4222440" cy="3470040"/>
          </a:xfrm>
        </p:grpSpPr>
        <p:sp>
          <p:nvSpPr>
            <p:cNvPr id="308" name="Google Shape;184;p26"/>
            <p:cNvSpPr/>
            <p:nvPr/>
          </p:nvSpPr>
          <p:spPr>
            <a:xfrm>
              <a:off x="4259160" y="1197000"/>
              <a:ext cx="4222440" cy="347004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Central Processing Unit</a:t>
              </a:r>
              <a:endParaRPr b="0" lang="en-US" sz="1600" spc="-1" strike="noStrike">
                <a:latin typeface="Arial"/>
              </a:endParaRPr>
            </a:p>
          </p:txBody>
        </p:sp>
        <p:sp>
          <p:nvSpPr>
            <p:cNvPr id="309" name="Google Shape;185;p26"/>
            <p:cNvSpPr/>
            <p:nvPr/>
          </p:nvSpPr>
          <p:spPr>
            <a:xfrm>
              <a:off x="4568760" y="1816560"/>
              <a:ext cx="1619640" cy="1088640"/>
            </a:xfrm>
            <a:prstGeom prst="rect">
              <a:avLst/>
            </a:prstGeom>
            <a:solidFill>
              <a:srgbClr val="f4cccc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Control Unit (CU)</a:t>
              </a:r>
              <a:endParaRPr b="0" lang="en-US" sz="1400" spc="-1" strike="noStrike">
                <a:latin typeface="Arial"/>
              </a:endParaRPr>
            </a:p>
          </p:txBody>
        </p:sp>
      </p:grpSp>
      <p:sp>
        <p:nvSpPr>
          <p:cNvPr id="310" name="Google Shape;186;p26"/>
          <p:cNvSpPr/>
          <p:nvPr/>
        </p:nvSpPr>
        <p:spPr>
          <a:xfrm rot="10800000">
            <a:off x="7335000" y="2896920"/>
            <a:ext cx="360" cy="284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Google Shape;189;p26"/>
          <p:cNvSpPr/>
          <p:nvPr/>
        </p:nvSpPr>
        <p:spPr>
          <a:xfrm>
            <a:off x="5378760" y="2905560"/>
            <a:ext cx="1146240" cy="82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Google Shape;190;p26"/>
          <p:cNvSpPr/>
          <p:nvPr/>
        </p:nvSpPr>
        <p:spPr>
          <a:xfrm>
            <a:off x="487800" y="1792800"/>
            <a:ext cx="3050280" cy="9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Instructions:</a:t>
            </a:r>
            <a:r>
              <a:rPr b="0" lang="en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c = a + b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3" name="Google Shape;191;p26"/>
          <p:cNvSpPr/>
          <p:nvPr/>
        </p:nvSpPr>
        <p:spPr>
          <a:xfrm>
            <a:off x="642600" y="3423600"/>
            <a:ext cx="2740320" cy="8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Data: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b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4" name="Google Shape;188;p26"/>
          <p:cNvSpPr/>
          <p:nvPr/>
        </p:nvSpPr>
        <p:spPr>
          <a:xfrm>
            <a:off x="6525360" y="1825200"/>
            <a:ext cx="1619640" cy="1071000"/>
          </a:xfrm>
          <a:prstGeom prst="rect">
            <a:avLst/>
          </a:prstGeom>
          <a:solidFill>
            <a:srgbClr val="ffe599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Arithmetic Logic Unit (ALU)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15" name="Google Shape;192;p26"/>
          <p:cNvSpPr/>
          <p:nvPr/>
        </p:nvSpPr>
        <p:spPr>
          <a:xfrm>
            <a:off x="3333960" y="1267560"/>
            <a:ext cx="1717200" cy="725760"/>
          </a:xfrm>
          <a:prstGeom prst="wedgeRoundRectCallout">
            <a:avLst>
              <a:gd name="adj1" fmla="val 46131"/>
              <a:gd name="adj2" fmla="val 78030"/>
              <a:gd name="adj3" fmla="val 0"/>
            </a:avLst>
          </a:prstGeom>
          <a:solidFill>
            <a:schemeClr val="lt1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Here’s the result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16" name="Google Shape;193;p26"/>
          <p:cNvSpPr/>
          <p:nvPr/>
        </p:nvSpPr>
        <p:spPr>
          <a:xfrm rot="10800000">
            <a:off x="3834360" y="2360520"/>
            <a:ext cx="7344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Google Shape;194;p26"/>
          <p:cNvSpPr/>
          <p:nvPr/>
        </p:nvSpPr>
        <p:spPr>
          <a:xfrm>
            <a:off x="2041560" y="3923280"/>
            <a:ext cx="362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8" name="Google Shape;187;p26"/>
          <p:cNvSpPr/>
          <p:nvPr/>
        </p:nvSpPr>
        <p:spPr>
          <a:xfrm>
            <a:off x="6525360" y="3181680"/>
            <a:ext cx="1619640" cy="1088640"/>
          </a:xfrm>
          <a:prstGeom prst="rect">
            <a:avLst/>
          </a:prstGeom>
          <a:solidFill>
            <a:srgbClr val="b6d7a8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19" name="Google Shape;195;p26"/>
          <p:cNvSpPr/>
          <p:nvPr/>
        </p:nvSpPr>
        <p:spPr>
          <a:xfrm>
            <a:off x="6612120" y="3923280"/>
            <a:ext cx="362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20" name="Google Shape;196;p26"/>
          <p:cNvSpPr/>
          <p:nvPr/>
        </p:nvSpPr>
        <p:spPr>
          <a:xfrm>
            <a:off x="6666840" y="3593520"/>
            <a:ext cx="13363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c = a + 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21" name="Google Shape;197;p26"/>
          <p:cNvSpPr/>
          <p:nvPr/>
        </p:nvSpPr>
        <p:spPr>
          <a:xfrm>
            <a:off x="7153920" y="3923280"/>
            <a:ext cx="362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22" name="Google Shape;198;p26"/>
          <p:cNvSpPr/>
          <p:nvPr/>
        </p:nvSpPr>
        <p:spPr>
          <a:xfrm>
            <a:off x="7695720" y="3925800"/>
            <a:ext cx="362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5" dur="indefinite" restart="never" nodeType="tmRoot">
          <p:childTnLst>
            <p:seq>
              <p:cTn id="86" dur="indefinite" nodeType="mainSeq">
                <p:childTnLst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Wh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y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doe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s it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mat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ter?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Scientific software performance depends on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data movement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Computers try hard to be efficient - we can leverage this!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Goal: Understand </a:t>
            </a:r>
            <a:r>
              <a:rPr b="0" i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how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leveraging data efficiency makes for faster code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311760" y="17064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Me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mor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y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Hie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rarc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hy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Google Shape;210;p28"/>
          <p:cNvSpPr/>
          <p:nvPr/>
        </p:nvSpPr>
        <p:spPr>
          <a:xfrm>
            <a:off x="3788640" y="1546200"/>
            <a:ext cx="1566720" cy="654840"/>
          </a:xfrm>
          <a:prstGeom prst="flowChartAlternateProcess">
            <a:avLst/>
          </a:prstGeom>
          <a:solidFill>
            <a:srgbClr val="d9ead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27" name="Google Shape;211;p28"/>
          <p:cNvSpPr/>
          <p:nvPr/>
        </p:nvSpPr>
        <p:spPr>
          <a:xfrm>
            <a:off x="2779200" y="3650040"/>
            <a:ext cx="3584880" cy="654840"/>
          </a:xfrm>
          <a:prstGeom prst="flowChartAlternateProcess">
            <a:avLst/>
          </a:prstGeom>
          <a:solidFill>
            <a:srgbClr val="b4a7d6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Random Access Memory (RAM)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28" name="Google Shape;212;p28"/>
          <p:cNvSpPr/>
          <p:nvPr/>
        </p:nvSpPr>
        <p:spPr>
          <a:xfrm>
            <a:off x="6905880" y="1124280"/>
            <a:ext cx="177912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Size (bytes)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29" name="Google Shape;213;p28"/>
          <p:cNvSpPr/>
          <p:nvPr/>
        </p:nvSpPr>
        <p:spPr>
          <a:xfrm>
            <a:off x="623160" y="4816080"/>
            <a:ext cx="852012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Numbers based on Intel Sandy Bridge assuming 3.6 GHz CPU (ca. 2012); </a:t>
            </a:r>
            <a:r>
              <a:rPr b="0" i="1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The Science of Computing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, Victor Eijkhout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30" name="Google Shape;214;p28"/>
          <p:cNvSpPr/>
          <p:nvPr/>
        </p:nvSpPr>
        <p:spPr>
          <a:xfrm>
            <a:off x="7083000" y="1710000"/>
            <a:ext cx="1053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192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31" name="Google Shape;215;p28"/>
          <p:cNvSpPr/>
          <p:nvPr/>
        </p:nvSpPr>
        <p:spPr>
          <a:xfrm>
            <a:off x="7083000" y="3813840"/>
            <a:ext cx="1053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2G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32" name="Google Shape;216;p28"/>
          <p:cNvSpPr/>
          <p:nvPr/>
        </p:nvSpPr>
        <p:spPr>
          <a:xfrm>
            <a:off x="8030520" y="1598400"/>
            <a:ext cx="360" cy="2708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Google Shape;217;p28"/>
          <p:cNvSpPr/>
          <p:nvPr/>
        </p:nvSpPr>
        <p:spPr>
          <a:xfrm>
            <a:off x="311760" y="1094400"/>
            <a:ext cx="177912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Latency (nanoseconds)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34" name="Google Shape;218;p28"/>
          <p:cNvSpPr/>
          <p:nvPr/>
        </p:nvSpPr>
        <p:spPr>
          <a:xfrm>
            <a:off x="1007280" y="3813840"/>
            <a:ext cx="1053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63.9 - 100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35" name="Google Shape;219;p28"/>
          <p:cNvSpPr/>
          <p:nvPr/>
        </p:nvSpPr>
        <p:spPr>
          <a:xfrm>
            <a:off x="932400" y="1739880"/>
            <a:ext cx="360" cy="2708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595959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Google Shape;220;p28"/>
          <p:cNvSpPr/>
          <p:nvPr/>
        </p:nvSpPr>
        <p:spPr>
          <a:xfrm>
            <a:off x="1007280" y="1710000"/>
            <a:ext cx="1053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~ 0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37" name="Google Shape;221;p28"/>
          <p:cNvSpPr/>
          <p:nvPr/>
        </p:nvSpPr>
        <p:spPr>
          <a:xfrm rot="16200000">
            <a:off x="-213840" y="2879280"/>
            <a:ext cx="17791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Better Performance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38" name="Google Shape;222;p28"/>
          <p:cNvSpPr/>
          <p:nvPr/>
        </p:nvSpPr>
        <p:spPr>
          <a:xfrm rot="5400000">
            <a:off x="7397640" y="2696040"/>
            <a:ext cx="17791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More Storage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311760" y="17064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Dat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a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Re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use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Google Shape;228;p29"/>
          <p:cNvSpPr/>
          <p:nvPr/>
        </p:nvSpPr>
        <p:spPr>
          <a:xfrm>
            <a:off x="5948640" y="1608120"/>
            <a:ext cx="1566720" cy="654840"/>
          </a:xfrm>
          <a:prstGeom prst="flowChartAlternateProcess">
            <a:avLst/>
          </a:prstGeom>
          <a:solidFill>
            <a:srgbClr val="d9ead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41" name="Google Shape;229;p29"/>
          <p:cNvSpPr/>
          <p:nvPr/>
        </p:nvSpPr>
        <p:spPr>
          <a:xfrm>
            <a:off x="4939560" y="3711960"/>
            <a:ext cx="3584880" cy="654840"/>
          </a:xfrm>
          <a:prstGeom prst="flowChartAlternateProcess">
            <a:avLst/>
          </a:prstGeom>
          <a:solidFill>
            <a:srgbClr val="b4a7d6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Random Access Memory (RAM)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42" name="Google Shape;230;p29"/>
          <p:cNvSpPr/>
          <p:nvPr/>
        </p:nvSpPr>
        <p:spPr>
          <a:xfrm>
            <a:off x="469080" y="1644480"/>
            <a:ext cx="2999520" cy="12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Consider:</a:t>
            </a:r>
            <a:endParaRPr b="0" lang="en-US" sz="18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Courier New"/>
              <a:buAutoNum type="arabicPeriod"/>
              <a:tabLst>
                <a:tab algn="l" pos="0"/>
              </a:tabLst>
            </a:pPr>
            <a:r>
              <a:rPr b="1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c = a + b</a:t>
            </a:r>
            <a:endParaRPr b="0" lang="en-US" sz="18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Courier New"/>
              <a:buAutoNum type="arabicPeriod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d = 2*a + c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343" name="Google Shape;231;p29"/>
          <p:cNvGrpSpPr/>
          <p:nvPr/>
        </p:nvGrpSpPr>
        <p:grpSpPr>
          <a:xfrm>
            <a:off x="6143400" y="1973520"/>
            <a:ext cx="282960" cy="1775880"/>
            <a:chOff x="6143400" y="1973520"/>
            <a:chExt cx="282960" cy="1775880"/>
          </a:xfrm>
        </p:grpSpPr>
        <p:sp>
          <p:nvSpPr>
            <p:cNvPr id="344" name="Google Shape;232;p29"/>
            <p:cNvSpPr/>
            <p:nvPr/>
          </p:nvSpPr>
          <p:spPr>
            <a:xfrm rot="10800000">
              <a:off x="6284520" y="2206440"/>
              <a:ext cx="360" cy="1542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595959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5" name="Google Shape;233;p29"/>
            <p:cNvSpPr/>
            <p:nvPr/>
          </p:nvSpPr>
          <p:spPr>
            <a:xfrm>
              <a:off x="6143400" y="1973520"/>
              <a:ext cx="282960" cy="24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2880" bIns="182880" anchor="ctr">
              <a:noAutofit/>
            </a:bodyPr>
            <a:p>
              <a:pPr algn="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a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346" name="Google Shape;234;p29"/>
          <p:cNvGrpSpPr/>
          <p:nvPr/>
        </p:nvGrpSpPr>
        <p:grpSpPr>
          <a:xfrm>
            <a:off x="6579000" y="1973520"/>
            <a:ext cx="282960" cy="1775880"/>
            <a:chOff x="6579000" y="1973520"/>
            <a:chExt cx="282960" cy="1775880"/>
          </a:xfrm>
        </p:grpSpPr>
        <p:sp>
          <p:nvSpPr>
            <p:cNvPr id="347" name="Google Shape;235;p29"/>
            <p:cNvSpPr/>
            <p:nvPr/>
          </p:nvSpPr>
          <p:spPr>
            <a:xfrm rot="10800000">
              <a:off x="6720480" y="2206440"/>
              <a:ext cx="360" cy="1542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595959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8" name="Google Shape;236;p29"/>
            <p:cNvSpPr/>
            <p:nvPr/>
          </p:nvSpPr>
          <p:spPr>
            <a:xfrm>
              <a:off x="6579000" y="1973520"/>
              <a:ext cx="282960" cy="24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2880" bIns="182880" anchor="ctr">
              <a:noAutofit/>
            </a:bodyPr>
            <a:p>
              <a:pPr algn="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b</a:t>
              </a:r>
              <a:endParaRPr b="0" lang="en-US" sz="1400" spc="-1" strike="noStrike">
                <a:latin typeface="Arial"/>
              </a:endParaRPr>
            </a:p>
          </p:txBody>
        </p:sp>
      </p:grpSp>
      <p:sp>
        <p:nvSpPr>
          <p:cNvPr id="349" name="Google Shape;237;p29"/>
          <p:cNvSpPr/>
          <p:nvPr/>
        </p:nvSpPr>
        <p:spPr>
          <a:xfrm>
            <a:off x="7014960" y="1973520"/>
            <a:ext cx="282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50" name="Google Shape;238;p29"/>
          <p:cNvSpPr/>
          <p:nvPr/>
        </p:nvSpPr>
        <p:spPr>
          <a:xfrm>
            <a:off x="6143400" y="3711960"/>
            <a:ext cx="282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51" name="Google Shape;239;p29"/>
          <p:cNvSpPr/>
          <p:nvPr/>
        </p:nvSpPr>
        <p:spPr>
          <a:xfrm>
            <a:off x="6579000" y="3711960"/>
            <a:ext cx="282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b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352" name="Google Shape;240;p29"/>
          <p:cNvGrpSpPr/>
          <p:nvPr/>
        </p:nvGrpSpPr>
        <p:grpSpPr>
          <a:xfrm>
            <a:off x="7014960" y="2224080"/>
            <a:ext cx="282960" cy="1737720"/>
            <a:chOff x="7014960" y="2224080"/>
            <a:chExt cx="282960" cy="1737720"/>
          </a:xfrm>
        </p:grpSpPr>
        <p:sp>
          <p:nvSpPr>
            <p:cNvPr id="353" name="Google Shape;241;p29"/>
            <p:cNvSpPr/>
            <p:nvPr/>
          </p:nvSpPr>
          <p:spPr>
            <a:xfrm rot="10800000">
              <a:off x="7156080" y="2224080"/>
              <a:ext cx="360" cy="1542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595959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4" name="Google Shape;242;p29"/>
            <p:cNvSpPr/>
            <p:nvPr/>
          </p:nvSpPr>
          <p:spPr>
            <a:xfrm>
              <a:off x="7014960" y="3711960"/>
              <a:ext cx="282960" cy="24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2880" bIns="182880" anchor="ctr">
              <a:noAutofit/>
            </a:bodyPr>
            <a:p>
              <a:pPr algn="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c</a:t>
              </a:r>
              <a:endParaRPr b="0" lang="en-US" sz="14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1" dur="indefinite" restart="never" nodeType="tmRoot">
          <p:childTnLst>
            <p:seq>
              <p:cTn id="112" dur="indefinite" nodeType="mainSeq">
                <p:childTnLst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311760" y="17064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Dat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a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Re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use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Google Shape;248;p30"/>
          <p:cNvSpPr/>
          <p:nvPr/>
        </p:nvSpPr>
        <p:spPr>
          <a:xfrm>
            <a:off x="5948640" y="1608120"/>
            <a:ext cx="1566720" cy="654840"/>
          </a:xfrm>
          <a:prstGeom prst="flowChartAlternateProcess">
            <a:avLst/>
          </a:prstGeom>
          <a:solidFill>
            <a:srgbClr val="d9ead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57" name="Google Shape;249;p30"/>
          <p:cNvSpPr/>
          <p:nvPr/>
        </p:nvSpPr>
        <p:spPr>
          <a:xfrm>
            <a:off x="469080" y="1644480"/>
            <a:ext cx="2999520" cy="12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Consider:</a:t>
            </a:r>
            <a:endParaRPr b="0" lang="en-US" sz="18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Courier New"/>
              <a:buAutoNum type="arabicPeriod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c = a + b</a:t>
            </a:r>
            <a:endParaRPr b="0" lang="en-US" sz="18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Courier New"/>
              <a:buAutoNum type="arabicPeriod"/>
              <a:tabLst>
                <a:tab algn="l" pos="0"/>
              </a:tabLst>
            </a:pPr>
            <a:r>
              <a:rPr b="1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d = 2*b + 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8" name="Google Shape;250;p30"/>
          <p:cNvSpPr/>
          <p:nvPr/>
        </p:nvSpPr>
        <p:spPr>
          <a:xfrm>
            <a:off x="6579000" y="1973520"/>
            <a:ext cx="282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59" name="Google Shape;251;p30"/>
          <p:cNvSpPr/>
          <p:nvPr/>
        </p:nvSpPr>
        <p:spPr>
          <a:xfrm>
            <a:off x="7014960" y="1973520"/>
            <a:ext cx="282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60" name="Google Shape;252;p30"/>
          <p:cNvSpPr/>
          <p:nvPr/>
        </p:nvSpPr>
        <p:spPr>
          <a:xfrm>
            <a:off x="6143400" y="1973520"/>
            <a:ext cx="282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61" name="Google Shape;253;p30"/>
          <p:cNvSpPr/>
          <p:nvPr/>
        </p:nvSpPr>
        <p:spPr>
          <a:xfrm>
            <a:off x="6530760" y="1917000"/>
            <a:ext cx="858240" cy="362520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2" name="Google Shape;254;p30"/>
          <p:cNvSpPr/>
          <p:nvPr/>
        </p:nvSpPr>
        <p:spPr>
          <a:xfrm>
            <a:off x="4939560" y="3711960"/>
            <a:ext cx="3584880" cy="654840"/>
          </a:xfrm>
          <a:prstGeom prst="flowChartAlternateProcess">
            <a:avLst/>
          </a:prstGeom>
          <a:solidFill>
            <a:srgbClr val="b4a7d6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Random Access Memory (RAM)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63" name="Google Shape;255;p30"/>
          <p:cNvSpPr/>
          <p:nvPr/>
        </p:nvSpPr>
        <p:spPr>
          <a:xfrm>
            <a:off x="6143400" y="3711960"/>
            <a:ext cx="282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64" name="Google Shape;256;p30"/>
          <p:cNvSpPr/>
          <p:nvPr/>
        </p:nvSpPr>
        <p:spPr>
          <a:xfrm>
            <a:off x="6579000" y="3711960"/>
            <a:ext cx="282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65" name="Google Shape;257;p30"/>
          <p:cNvSpPr/>
          <p:nvPr/>
        </p:nvSpPr>
        <p:spPr>
          <a:xfrm>
            <a:off x="7014960" y="3711960"/>
            <a:ext cx="282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9" dur="indefinite" restart="never" nodeType="tmRoot">
          <p:childTnLst>
            <p:seq>
              <p:cTn id="130" dur="indefinite" nodeType="mainSeq">
                <p:childTnLst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311760" y="2235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Data 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Reus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Google Shape;263;p31"/>
          <p:cNvSpPr/>
          <p:nvPr/>
        </p:nvSpPr>
        <p:spPr>
          <a:xfrm>
            <a:off x="487800" y="1197000"/>
            <a:ext cx="3470040" cy="3470040"/>
          </a:xfrm>
          <a:prstGeom prst="rect">
            <a:avLst/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Arial"/>
                <a:ea typeface="Arial"/>
              </a:rPr>
              <a:t>Main Memory</a:t>
            </a:r>
            <a:endParaRPr b="0" lang="en-US" sz="1600" spc="-1" strike="noStrike">
              <a:latin typeface="Arial"/>
            </a:endParaRPr>
          </a:p>
        </p:txBody>
      </p:sp>
      <p:grpSp>
        <p:nvGrpSpPr>
          <p:cNvPr id="368" name="Google Shape;264;p31"/>
          <p:cNvGrpSpPr/>
          <p:nvPr/>
        </p:nvGrpSpPr>
        <p:grpSpPr>
          <a:xfrm>
            <a:off x="4259160" y="1197000"/>
            <a:ext cx="4222440" cy="3470040"/>
            <a:chOff x="4259160" y="1197000"/>
            <a:chExt cx="4222440" cy="3470040"/>
          </a:xfrm>
        </p:grpSpPr>
        <p:sp>
          <p:nvSpPr>
            <p:cNvPr id="369" name="Google Shape;265;p31"/>
            <p:cNvSpPr/>
            <p:nvPr/>
          </p:nvSpPr>
          <p:spPr>
            <a:xfrm>
              <a:off x="4259160" y="1197000"/>
              <a:ext cx="4222440" cy="347004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Central Processing Unit</a:t>
              </a:r>
              <a:endParaRPr b="0" lang="en-US" sz="1600" spc="-1" strike="noStrike">
                <a:latin typeface="Arial"/>
              </a:endParaRPr>
            </a:p>
          </p:txBody>
        </p:sp>
        <p:sp>
          <p:nvSpPr>
            <p:cNvPr id="370" name="Google Shape;266;p31"/>
            <p:cNvSpPr/>
            <p:nvPr/>
          </p:nvSpPr>
          <p:spPr>
            <a:xfrm>
              <a:off x="4568760" y="1816560"/>
              <a:ext cx="1619640" cy="1088640"/>
            </a:xfrm>
            <a:prstGeom prst="rect">
              <a:avLst/>
            </a:prstGeom>
            <a:solidFill>
              <a:srgbClr val="f4cccc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Control Unit (CU)</a:t>
              </a:r>
              <a:endParaRPr b="0" lang="en-US" sz="1400" spc="-1" strike="noStrike">
                <a:latin typeface="Arial"/>
              </a:endParaRPr>
            </a:p>
          </p:txBody>
        </p:sp>
      </p:grpSp>
      <p:sp>
        <p:nvSpPr>
          <p:cNvPr id="371" name="Google Shape;267;p31"/>
          <p:cNvSpPr/>
          <p:nvPr/>
        </p:nvSpPr>
        <p:spPr>
          <a:xfrm rot="10800000">
            <a:off x="7095960" y="2896920"/>
            <a:ext cx="360" cy="284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Google Shape;268;p31"/>
          <p:cNvSpPr/>
          <p:nvPr/>
        </p:nvSpPr>
        <p:spPr>
          <a:xfrm>
            <a:off x="5378760" y="2905560"/>
            <a:ext cx="1146240" cy="82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Google Shape;270;p31"/>
          <p:cNvSpPr/>
          <p:nvPr/>
        </p:nvSpPr>
        <p:spPr>
          <a:xfrm>
            <a:off x="487800" y="1792800"/>
            <a:ext cx="3050280" cy="13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Instructions:</a:t>
            </a:r>
            <a:r>
              <a:rPr b="0" lang="en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c = a + b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d = 2*b + 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74" name="Google Shape;271;p31"/>
          <p:cNvSpPr/>
          <p:nvPr/>
        </p:nvSpPr>
        <p:spPr>
          <a:xfrm>
            <a:off x="642600" y="3286440"/>
            <a:ext cx="2740320" cy="11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Data: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b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75" name="Google Shape;272;p31"/>
          <p:cNvSpPr/>
          <p:nvPr/>
        </p:nvSpPr>
        <p:spPr>
          <a:xfrm>
            <a:off x="6525360" y="1825200"/>
            <a:ext cx="1619640" cy="1071000"/>
          </a:xfrm>
          <a:prstGeom prst="rect">
            <a:avLst/>
          </a:prstGeom>
          <a:solidFill>
            <a:srgbClr val="ffe599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Arithmetic Logic Unit (ALU)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76" name="Google Shape;273;p31"/>
          <p:cNvSpPr/>
          <p:nvPr/>
        </p:nvSpPr>
        <p:spPr>
          <a:xfrm>
            <a:off x="2439720" y="3925800"/>
            <a:ext cx="362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77" name="Google Shape;269;p31"/>
          <p:cNvSpPr/>
          <p:nvPr/>
        </p:nvSpPr>
        <p:spPr>
          <a:xfrm>
            <a:off x="6525360" y="3181680"/>
            <a:ext cx="1619640" cy="1088640"/>
          </a:xfrm>
          <a:prstGeom prst="rect">
            <a:avLst/>
          </a:prstGeom>
          <a:solidFill>
            <a:srgbClr val="b6d7a8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78" name="Google Shape;274;p31"/>
          <p:cNvSpPr/>
          <p:nvPr/>
        </p:nvSpPr>
        <p:spPr>
          <a:xfrm>
            <a:off x="6612120" y="3923280"/>
            <a:ext cx="362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79" name="Google Shape;275;p31"/>
          <p:cNvSpPr/>
          <p:nvPr/>
        </p:nvSpPr>
        <p:spPr>
          <a:xfrm>
            <a:off x="6596280" y="3593520"/>
            <a:ext cx="14781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d = 2*b + c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80" name="Google Shape;276;p31"/>
          <p:cNvSpPr/>
          <p:nvPr/>
        </p:nvSpPr>
        <p:spPr>
          <a:xfrm>
            <a:off x="6975000" y="3925800"/>
            <a:ext cx="362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81" name="Google Shape;277;p31"/>
          <p:cNvSpPr/>
          <p:nvPr/>
        </p:nvSpPr>
        <p:spPr>
          <a:xfrm>
            <a:off x="7337880" y="3925800"/>
            <a:ext cx="362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82" name="Google Shape;278;p31"/>
          <p:cNvSpPr/>
          <p:nvPr/>
        </p:nvSpPr>
        <p:spPr>
          <a:xfrm>
            <a:off x="3333960" y="1267560"/>
            <a:ext cx="1717200" cy="725760"/>
          </a:xfrm>
          <a:prstGeom prst="wedgeRoundRectCallout">
            <a:avLst>
              <a:gd name="adj1" fmla="val 46131"/>
              <a:gd name="adj2" fmla="val 78030"/>
              <a:gd name="adj3" fmla="val 0"/>
            </a:avLst>
          </a:prstGeom>
          <a:solidFill>
            <a:schemeClr val="lt1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I already have the data I need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83" name="Google Shape;279;p31"/>
          <p:cNvSpPr/>
          <p:nvPr/>
        </p:nvSpPr>
        <p:spPr>
          <a:xfrm rot="10800000">
            <a:off x="7584840" y="2896920"/>
            <a:ext cx="360" cy="284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Google Shape;280;p31"/>
          <p:cNvSpPr/>
          <p:nvPr/>
        </p:nvSpPr>
        <p:spPr>
          <a:xfrm>
            <a:off x="7701120" y="3925800"/>
            <a:ext cx="362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d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85" name="Google Shape;281;p31"/>
          <p:cNvSpPr/>
          <p:nvPr/>
        </p:nvSpPr>
        <p:spPr>
          <a:xfrm rot="10800000">
            <a:off x="3728160" y="4057920"/>
            <a:ext cx="7344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Google Shape;282;p31"/>
          <p:cNvSpPr/>
          <p:nvPr/>
        </p:nvSpPr>
        <p:spPr>
          <a:xfrm>
            <a:off x="6905880" y="3874680"/>
            <a:ext cx="858240" cy="362520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5" dur="indefinite" restart="never" nodeType="tmRoot">
          <p:childTnLst>
            <p:seq>
              <p:cTn id="136" dur="indefinite" nodeType="mainSeq">
                <p:childTnLst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Drawback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CPU registers are very small (only a few hundred </a:t>
            </a:r>
            <a:r>
              <a:rPr b="0" i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bytes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Have to hold both active data and instructions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It’s very hard to keep data in registers for re-use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Are we stuck going to main RAM memory every time?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Google Shape;289;p32"/>
          <p:cNvSpPr/>
          <p:nvPr/>
        </p:nvSpPr>
        <p:spPr>
          <a:xfrm>
            <a:off x="522360" y="3361680"/>
            <a:ext cx="2999520" cy="11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Courier New"/>
              <a:buAutoNum type="arabicPeriod"/>
            </a:pP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c = a + b</a:t>
            </a:r>
            <a:endParaRPr b="0" lang="en-US" sz="18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Courier New"/>
              <a:buAutoNum type="arabicPeriod"/>
            </a:pPr>
            <a:r>
              <a:rPr b="0" i="1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Other stuff</a:t>
            </a:r>
            <a:endParaRPr b="0" lang="en-US" sz="18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Courier New"/>
              <a:buAutoNum type="arabicPeriod"/>
            </a:pP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d = 2*b + 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90" name="Google Shape;290;p32"/>
          <p:cNvSpPr/>
          <p:nvPr/>
        </p:nvSpPr>
        <p:spPr>
          <a:xfrm>
            <a:off x="5789160" y="3086640"/>
            <a:ext cx="1566720" cy="654840"/>
          </a:xfrm>
          <a:prstGeom prst="flowChartAlternateProcess">
            <a:avLst/>
          </a:prstGeom>
          <a:solidFill>
            <a:srgbClr val="d9ead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91" name="Google Shape;291;p32"/>
          <p:cNvSpPr/>
          <p:nvPr/>
        </p:nvSpPr>
        <p:spPr>
          <a:xfrm>
            <a:off x="6419880" y="3452040"/>
            <a:ext cx="282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92" name="Google Shape;292;p32"/>
          <p:cNvSpPr/>
          <p:nvPr/>
        </p:nvSpPr>
        <p:spPr>
          <a:xfrm>
            <a:off x="6855480" y="3452040"/>
            <a:ext cx="282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z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93" name="Google Shape;293;p32"/>
          <p:cNvSpPr/>
          <p:nvPr/>
        </p:nvSpPr>
        <p:spPr>
          <a:xfrm>
            <a:off x="5984280" y="3452040"/>
            <a:ext cx="282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x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94" name="Google Shape;294;p32"/>
          <p:cNvSpPr/>
          <p:nvPr/>
        </p:nvSpPr>
        <p:spPr>
          <a:xfrm>
            <a:off x="4780080" y="4048200"/>
            <a:ext cx="3584880" cy="654840"/>
          </a:xfrm>
          <a:prstGeom prst="flowChartAlternateProcess">
            <a:avLst/>
          </a:prstGeom>
          <a:solidFill>
            <a:srgbClr val="b4a7d6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Random Access Memory (RAM)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95" name="Google Shape;295;p32"/>
          <p:cNvSpPr/>
          <p:nvPr/>
        </p:nvSpPr>
        <p:spPr>
          <a:xfrm>
            <a:off x="5984280" y="4048200"/>
            <a:ext cx="282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96" name="Google Shape;296;p32"/>
          <p:cNvSpPr/>
          <p:nvPr/>
        </p:nvSpPr>
        <p:spPr>
          <a:xfrm>
            <a:off x="6419880" y="4048200"/>
            <a:ext cx="282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97" name="Google Shape;297;p32"/>
          <p:cNvSpPr/>
          <p:nvPr/>
        </p:nvSpPr>
        <p:spPr>
          <a:xfrm>
            <a:off x="6855480" y="4048200"/>
            <a:ext cx="282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98" name="Google Shape;298;p32"/>
          <p:cNvSpPr/>
          <p:nvPr/>
        </p:nvSpPr>
        <p:spPr>
          <a:xfrm flipH="1" rot="10800000">
            <a:off x="2716200" y="3589920"/>
            <a:ext cx="2904120" cy="34128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311760" y="17064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Memory Hierarchy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Google Shape;304;p33"/>
          <p:cNvSpPr/>
          <p:nvPr/>
        </p:nvSpPr>
        <p:spPr>
          <a:xfrm>
            <a:off x="446760" y="1002240"/>
            <a:ext cx="4222440" cy="3470040"/>
          </a:xfrm>
          <a:prstGeom prst="rect">
            <a:avLst/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Arial"/>
                <a:ea typeface="Arial"/>
              </a:rPr>
              <a:t>Central Processing Unit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01" name="Google Shape;305;p33"/>
          <p:cNvSpPr/>
          <p:nvPr/>
        </p:nvSpPr>
        <p:spPr>
          <a:xfrm>
            <a:off x="756720" y="1621800"/>
            <a:ext cx="1619640" cy="1088640"/>
          </a:xfrm>
          <a:prstGeom prst="rect">
            <a:avLst/>
          </a:prstGeom>
          <a:solidFill>
            <a:srgbClr val="f4cc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Control Unit (CU)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02" name="Google Shape;306;p33"/>
          <p:cNvSpPr/>
          <p:nvPr/>
        </p:nvSpPr>
        <p:spPr>
          <a:xfrm>
            <a:off x="2712960" y="1630800"/>
            <a:ext cx="1619640" cy="1071000"/>
          </a:xfrm>
          <a:prstGeom prst="rect">
            <a:avLst/>
          </a:prstGeom>
          <a:solidFill>
            <a:srgbClr val="ffe599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Arithmetic Logic Unit (ALU)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03" name="Google Shape;307;p33"/>
          <p:cNvSpPr/>
          <p:nvPr/>
        </p:nvSpPr>
        <p:spPr>
          <a:xfrm>
            <a:off x="2712960" y="2986920"/>
            <a:ext cx="1619640" cy="1088640"/>
          </a:xfrm>
          <a:prstGeom prst="rect">
            <a:avLst/>
          </a:prstGeom>
          <a:solidFill>
            <a:srgbClr val="b6d7a8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04" name="Google Shape;308;p33"/>
          <p:cNvSpPr/>
          <p:nvPr/>
        </p:nvSpPr>
        <p:spPr>
          <a:xfrm>
            <a:off x="756720" y="2986920"/>
            <a:ext cx="1619640" cy="1088640"/>
          </a:xfrm>
          <a:prstGeom prst="rect">
            <a:avLst/>
          </a:prstGeom>
          <a:solidFill>
            <a:srgbClr val="cfe2f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L1 Cache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05" name="Google Shape;309;p33"/>
          <p:cNvSpPr/>
          <p:nvPr/>
        </p:nvSpPr>
        <p:spPr>
          <a:xfrm>
            <a:off x="6037200" y="1246320"/>
            <a:ext cx="1566720" cy="654840"/>
          </a:xfrm>
          <a:prstGeom prst="flowChartAlternateProcess">
            <a:avLst/>
          </a:prstGeom>
          <a:solidFill>
            <a:srgbClr val="d9ead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06" name="Google Shape;310;p33"/>
          <p:cNvSpPr/>
          <p:nvPr/>
        </p:nvSpPr>
        <p:spPr>
          <a:xfrm>
            <a:off x="5656680" y="1947600"/>
            <a:ext cx="2328120" cy="654840"/>
          </a:xfrm>
          <a:prstGeom prst="flowChartAlternateProcess">
            <a:avLst/>
          </a:prstGeom>
          <a:solidFill>
            <a:srgbClr val="cfe2f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L1 Cache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07" name="Google Shape;311;p33"/>
          <p:cNvSpPr/>
          <p:nvPr/>
        </p:nvSpPr>
        <p:spPr>
          <a:xfrm>
            <a:off x="5028120" y="3349800"/>
            <a:ext cx="3584880" cy="654840"/>
          </a:xfrm>
          <a:prstGeom prst="flowChartAlternateProcess">
            <a:avLst/>
          </a:prstGeom>
          <a:solidFill>
            <a:srgbClr val="b4a7d6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Random Access Memory (RAM)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08" name="Google Shape;312;p33"/>
          <p:cNvSpPr/>
          <p:nvPr/>
        </p:nvSpPr>
        <p:spPr>
          <a:xfrm>
            <a:off x="5346720" y="2648880"/>
            <a:ext cx="2947680" cy="654840"/>
          </a:xfrm>
          <a:prstGeom prst="flowChartAlternateProcess">
            <a:avLst/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pc="-1" strike="noStrike">
                <a:solidFill>
                  <a:srgbClr val="000000"/>
                </a:solidFill>
                <a:latin typeface="Arial"/>
                <a:ea typeface="Arial"/>
              </a:rPr>
              <a:t>???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3" dur="indefinite" restart="never" nodeType="tmRoot">
          <p:childTnLst>
            <p:seq>
              <p:cTn id="174" dur="indefinite" nodeType="mainSeq">
                <p:childTnLst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311760" y="17064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Memory Hierarchy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Google Shape;318;p34"/>
          <p:cNvSpPr/>
          <p:nvPr/>
        </p:nvSpPr>
        <p:spPr>
          <a:xfrm>
            <a:off x="446760" y="1002240"/>
            <a:ext cx="4222440" cy="3470040"/>
          </a:xfrm>
          <a:prstGeom prst="rect">
            <a:avLst/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sngStrike">
                <a:solidFill>
                  <a:srgbClr val="000000"/>
                </a:solidFill>
                <a:latin typeface="Arial"/>
                <a:ea typeface="Arial"/>
              </a:rPr>
              <a:t>Central Processing Unit 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Arial"/>
                <a:ea typeface="Arial"/>
              </a:rPr>
              <a:t>Core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11" name="Google Shape;319;p34"/>
          <p:cNvSpPr/>
          <p:nvPr/>
        </p:nvSpPr>
        <p:spPr>
          <a:xfrm>
            <a:off x="756720" y="1621800"/>
            <a:ext cx="1619640" cy="1088640"/>
          </a:xfrm>
          <a:prstGeom prst="rect">
            <a:avLst/>
          </a:prstGeom>
          <a:solidFill>
            <a:srgbClr val="f4cc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Control Unit (CU)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12" name="Google Shape;320;p34"/>
          <p:cNvSpPr/>
          <p:nvPr/>
        </p:nvSpPr>
        <p:spPr>
          <a:xfrm>
            <a:off x="2712960" y="1630800"/>
            <a:ext cx="1619640" cy="1071000"/>
          </a:xfrm>
          <a:prstGeom prst="rect">
            <a:avLst/>
          </a:prstGeom>
          <a:solidFill>
            <a:srgbClr val="ffe599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Arithmetic Logic Unit (ALU)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13" name="Google Shape;321;p34"/>
          <p:cNvSpPr/>
          <p:nvPr/>
        </p:nvSpPr>
        <p:spPr>
          <a:xfrm>
            <a:off x="2712960" y="2986920"/>
            <a:ext cx="1619640" cy="1088640"/>
          </a:xfrm>
          <a:prstGeom prst="rect">
            <a:avLst/>
          </a:prstGeom>
          <a:solidFill>
            <a:srgbClr val="b6d7a8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14" name="Google Shape;322;p34"/>
          <p:cNvSpPr/>
          <p:nvPr/>
        </p:nvSpPr>
        <p:spPr>
          <a:xfrm>
            <a:off x="756720" y="2986920"/>
            <a:ext cx="1619640" cy="1088640"/>
          </a:xfrm>
          <a:prstGeom prst="rect">
            <a:avLst/>
          </a:prstGeom>
          <a:solidFill>
            <a:srgbClr val="cfe2f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L1 Cache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15" name="Google Shape;323;p34"/>
          <p:cNvSpPr/>
          <p:nvPr/>
        </p:nvSpPr>
        <p:spPr>
          <a:xfrm>
            <a:off x="6037200" y="1246320"/>
            <a:ext cx="1566720" cy="654840"/>
          </a:xfrm>
          <a:prstGeom prst="flowChartAlternateProcess">
            <a:avLst/>
          </a:prstGeom>
          <a:solidFill>
            <a:srgbClr val="d9ead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16" name="Google Shape;324;p34"/>
          <p:cNvSpPr/>
          <p:nvPr/>
        </p:nvSpPr>
        <p:spPr>
          <a:xfrm>
            <a:off x="5656680" y="1947600"/>
            <a:ext cx="2328120" cy="654840"/>
          </a:xfrm>
          <a:prstGeom prst="flowChartAlternateProcess">
            <a:avLst/>
          </a:prstGeom>
          <a:solidFill>
            <a:srgbClr val="cfe2f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L1 Cache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17" name="Google Shape;325;p34"/>
          <p:cNvSpPr/>
          <p:nvPr/>
        </p:nvSpPr>
        <p:spPr>
          <a:xfrm>
            <a:off x="5028120" y="3349800"/>
            <a:ext cx="3584880" cy="654840"/>
          </a:xfrm>
          <a:prstGeom prst="flowChartAlternateProcess">
            <a:avLst/>
          </a:prstGeom>
          <a:solidFill>
            <a:srgbClr val="b4a7d6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Random Access Memory (RAM)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18" name="Google Shape;326;p34"/>
          <p:cNvSpPr/>
          <p:nvPr/>
        </p:nvSpPr>
        <p:spPr>
          <a:xfrm>
            <a:off x="5346720" y="2648880"/>
            <a:ext cx="2947680" cy="654840"/>
          </a:xfrm>
          <a:prstGeom prst="flowChartAlternateProcess">
            <a:avLst/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pc="-1" strike="noStrike">
                <a:solidFill>
                  <a:srgbClr val="000000"/>
                </a:solidFill>
                <a:latin typeface="Arial"/>
                <a:ea typeface="Arial"/>
              </a:rPr>
              <a:t>???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311760" y="17064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Modern Multi-Core CPUs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0" name="Google Shape;332;p35"/>
          <p:cNvGrpSpPr/>
          <p:nvPr/>
        </p:nvGrpSpPr>
        <p:grpSpPr>
          <a:xfrm>
            <a:off x="626760" y="1442160"/>
            <a:ext cx="2988720" cy="2589480"/>
            <a:chOff x="626760" y="1442160"/>
            <a:chExt cx="2988720" cy="2589480"/>
          </a:xfrm>
        </p:grpSpPr>
        <p:sp>
          <p:nvSpPr>
            <p:cNvPr id="421" name="Google Shape;333;p35"/>
            <p:cNvSpPr/>
            <p:nvPr/>
          </p:nvSpPr>
          <p:spPr>
            <a:xfrm>
              <a:off x="626760" y="1442160"/>
              <a:ext cx="2988720" cy="258948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sngStrike">
                  <a:solidFill>
                    <a:srgbClr val="000000"/>
                  </a:solidFill>
                  <a:latin typeface="Arial"/>
                  <a:ea typeface="Arial"/>
                </a:rPr>
                <a:t>Central Processing Unit </a:t>
              </a:r>
              <a:endParaRPr b="0" lang="en-US" sz="14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Core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422" name="Google Shape;334;p35"/>
            <p:cNvSpPr/>
            <p:nvPr/>
          </p:nvSpPr>
          <p:spPr>
            <a:xfrm>
              <a:off x="954360" y="2125800"/>
              <a:ext cx="1056600" cy="766440"/>
            </a:xfrm>
            <a:prstGeom prst="rect">
              <a:avLst/>
            </a:prstGeom>
            <a:solidFill>
              <a:srgbClr val="f4cccc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200" spc="-1" strike="noStrike">
                  <a:solidFill>
                    <a:srgbClr val="000000"/>
                  </a:solidFill>
                  <a:latin typeface="Arial"/>
                  <a:ea typeface="Arial"/>
                </a:rPr>
                <a:t>Control Unit (CU)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423" name="Google Shape;335;p35"/>
            <p:cNvSpPr/>
            <p:nvPr/>
          </p:nvSpPr>
          <p:spPr>
            <a:xfrm>
              <a:off x="2230920" y="2131920"/>
              <a:ext cx="1056600" cy="753840"/>
            </a:xfrm>
            <a:prstGeom prst="rect">
              <a:avLst/>
            </a:prstGeom>
            <a:solidFill>
              <a:srgbClr val="ffe599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200" spc="-1" strike="noStrike">
                  <a:solidFill>
                    <a:srgbClr val="000000"/>
                  </a:solidFill>
                  <a:latin typeface="Arial"/>
                  <a:ea typeface="Arial"/>
                </a:rPr>
                <a:t>Arithmetic Logic Unit (ALU)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424" name="Google Shape;336;p35"/>
            <p:cNvSpPr/>
            <p:nvPr/>
          </p:nvSpPr>
          <p:spPr>
            <a:xfrm>
              <a:off x="2230920" y="3087000"/>
              <a:ext cx="1056600" cy="766440"/>
            </a:xfrm>
            <a:prstGeom prst="rect">
              <a:avLst/>
            </a:prstGeom>
            <a:solidFill>
              <a:srgbClr val="b6d7a8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200" spc="-1" strike="noStrike">
                  <a:solidFill>
                    <a:srgbClr val="000000"/>
                  </a:solidFill>
                  <a:latin typeface="Arial"/>
                  <a:ea typeface="Arial"/>
                </a:rPr>
                <a:t>Registers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425" name="Google Shape;337;p35"/>
            <p:cNvSpPr/>
            <p:nvPr/>
          </p:nvSpPr>
          <p:spPr>
            <a:xfrm>
              <a:off x="954360" y="3087000"/>
              <a:ext cx="1056600" cy="766440"/>
            </a:xfrm>
            <a:prstGeom prst="rect">
              <a:avLst/>
            </a:prstGeom>
            <a:solidFill>
              <a:srgbClr val="cfe2f3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200" spc="-1" strike="noStrike">
                  <a:solidFill>
                    <a:srgbClr val="000000"/>
                  </a:solidFill>
                  <a:latin typeface="Arial"/>
                  <a:ea typeface="Arial"/>
                </a:rPr>
                <a:t>L1 Cache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426" name="Google Shape;338;p35"/>
          <p:cNvSpPr/>
          <p:nvPr/>
        </p:nvSpPr>
        <p:spPr>
          <a:xfrm>
            <a:off x="4588920" y="1002240"/>
            <a:ext cx="4222440" cy="3854880"/>
          </a:xfrm>
          <a:prstGeom prst="rect">
            <a:avLst/>
          </a:prstGeom>
          <a:solidFill>
            <a:srgbClr val="b7b7b7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Arial"/>
                <a:ea typeface="Arial"/>
              </a:rPr>
              <a:t>Modern CPU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27" name="Google Shape;339;p35"/>
          <p:cNvSpPr/>
          <p:nvPr/>
        </p:nvSpPr>
        <p:spPr>
          <a:xfrm>
            <a:off x="5837040" y="1495440"/>
            <a:ext cx="844920" cy="1276560"/>
          </a:xfrm>
          <a:prstGeom prst="rect">
            <a:avLst/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Core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28" name="Google Shape;340;p35"/>
          <p:cNvSpPr/>
          <p:nvPr/>
        </p:nvSpPr>
        <p:spPr>
          <a:xfrm>
            <a:off x="6803280" y="1495440"/>
            <a:ext cx="844920" cy="1276560"/>
          </a:xfrm>
          <a:prstGeom prst="rect">
            <a:avLst/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Core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29" name="Google Shape;341;p35"/>
          <p:cNvSpPr/>
          <p:nvPr/>
        </p:nvSpPr>
        <p:spPr>
          <a:xfrm>
            <a:off x="7769520" y="1468440"/>
            <a:ext cx="844920" cy="1276560"/>
          </a:xfrm>
          <a:prstGeom prst="rect">
            <a:avLst/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Core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30" name="Google Shape;342;p35"/>
          <p:cNvSpPr/>
          <p:nvPr/>
        </p:nvSpPr>
        <p:spPr>
          <a:xfrm>
            <a:off x="4871160" y="1495440"/>
            <a:ext cx="844920" cy="1276560"/>
          </a:xfrm>
          <a:prstGeom prst="rect">
            <a:avLst/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Core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31" name="Google Shape;343;p35"/>
          <p:cNvSpPr/>
          <p:nvPr/>
        </p:nvSpPr>
        <p:spPr>
          <a:xfrm>
            <a:off x="4871160" y="2872800"/>
            <a:ext cx="3743640" cy="778680"/>
          </a:xfrm>
          <a:prstGeom prst="rect">
            <a:avLst/>
          </a:prstGeom>
          <a:solidFill>
            <a:srgbClr val="c9daf8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L2 Cache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32" name="Google Shape;344;p35"/>
          <p:cNvSpPr/>
          <p:nvPr/>
        </p:nvSpPr>
        <p:spPr>
          <a:xfrm>
            <a:off x="4871160" y="3752280"/>
            <a:ext cx="3743640" cy="778680"/>
          </a:xfrm>
          <a:prstGeom prst="rect">
            <a:avLst/>
          </a:prstGeom>
          <a:solidFill>
            <a:srgbClr val="ea9999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Controllers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33" name="Google Shape;345;p35"/>
          <p:cNvSpPr/>
          <p:nvPr/>
        </p:nvSpPr>
        <p:spPr>
          <a:xfrm flipH="1" rot="10800000">
            <a:off x="3417480" y="2169000"/>
            <a:ext cx="1654200" cy="79092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5" dur="indefinite" restart="never" nodeType="tmRoot">
          <p:childTnLst>
            <p:seq>
              <p:cTn id="186" dur="indefinite" nodeType="mainSeq">
                <p:childTnLst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350;p36"/>
          <p:cNvGrpSpPr/>
          <p:nvPr/>
        </p:nvGrpSpPr>
        <p:grpSpPr>
          <a:xfrm>
            <a:off x="386280" y="772920"/>
            <a:ext cx="3809520" cy="3252960"/>
            <a:chOff x="386280" y="772920"/>
            <a:chExt cx="3809520" cy="3252960"/>
          </a:xfrm>
        </p:grpSpPr>
        <p:pic>
          <p:nvPicPr>
            <p:cNvPr id="435" name="Google Shape;351;p36" descr=""/>
            <p:cNvPicPr/>
            <p:nvPr/>
          </p:nvPicPr>
          <p:blipFill>
            <a:blip r:embed="rId1"/>
            <a:stretch/>
          </p:blipFill>
          <p:spPr>
            <a:xfrm>
              <a:off x="386280" y="772920"/>
              <a:ext cx="3809520" cy="2857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36" name="Google Shape;352;p36"/>
            <p:cNvSpPr/>
            <p:nvPr/>
          </p:nvSpPr>
          <p:spPr>
            <a:xfrm>
              <a:off x="963000" y="3630240"/>
              <a:ext cx="2499480" cy="39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Intel Core 2 Duo (ca. 2006)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437" name="Google Shape;353;p36"/>
          <p:cNvGrpSpPr/>
          <p:nvPr/>
        </p:nvGrpSpPr>
        <p:grpSpPr>
          <a:xfrm>
            <a:off x="4735080" y="619200"/>
            <a:ext cx="3809520" cy="3900600"/>
            <a:chOff x="4735080" y="619200"/>
            <a:chExt cx="3809520" cy="3900600"/>
          </a:xfrm>
        </p:grpSpPr>
        <p:pic>
          <p:nvPicPr>
            <p:cNvPr id="438" name="Google Shape;354;p36" descr=""/>
            <p:cNvPicPr/>
            <p:nvPr/>
          </p:nvPicPr>
          <p:blipFill>
            <a:blip r:embed="rId2"/>
            <a:stretch/>
          </p:blipFill>
          <p:spPr>
            <a:xfrm>
              <a:off x="4735080" y="619200"/>
              <a:ext cx="3809520" cy="3504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39" name="Google Shape;355;p36"/>
            <p:cNvSpPr/>
            <p:nvPr/>
          </p:nvSpPr>
          <p:spPr>
            <a:xfrm>
              <a:off x="5390280" y="4124160"/>
              <a:ext cx="2499480" cy="39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Intel Xeon “Tulsa” (ca. 2006)</a:t>
              </a:r>
              <a:endParaRPr b="0" lang="en-US" sz="14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1" dur="indefinite" restart="never" nodeType="tmRoot">
          <p:childTnLst>
            <p:seq>
              <p:cTn id="192" dur="indefinite" nodeType="mainSeq">
                <p:childTnLst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311760" y="17064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Memory Hierarchy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Google Shape;361;p37"/>
          <p:cNvSpPr/>
          <p:nvPr/>
        </p:nvSpPr>
        <p:spPr>
          <a:xfrm>
            <a:off x="3788640" y="1165320"/>
            <a:ext cx="1566720" cy="654840"/>
          </a:xfrm>
          <a:prstGeom prst="flowChartAlternateProcess">
            <a:avLst/>
          </a:prstGeom>
          <a:solidFill>
            <a:srgbClr val="d9ead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2" name="Google Shape;362;p37"/>
          <p:cNvSpPr/>
          <p:nvPr/>
        </p:nvSpPr>
        <p:spPr>
          <a:xfrm>
            <a:off x="3407760" y="1866600"/>
            <a:ext cx="2328120" cy="654840"/>
          </a:xfrm>
          <a:prstGeom prst="flowChartAlternateProcess">
            <a:avLst/>
          </a:prstGeom>
          <a:solidFill>
            <a:srgbClr val="cfe2f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L1 Cache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3" name="Google Shape;363;p37"/>
          <p:cNvSpPr/>
          <p:nvPr/>
        </p:nvSpPr>
        <p:spPr>
          <a:xfrm>
            <a:off x="3097800" y="2567880"/>
            <a:ext cx="2947680" cy="654840"/>
          </a:xfrm>
          <a:prstGeom prst="flowChartAlternateProcess">
            <a:avLst/>
          </a:prstGeom>
          <a:solidFill>
            <a:srgbClr val="c9daf8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L2/L3 Cache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4" name="Google Shape;364;p37"/>
          <p:cNvSpPr/>
          <p:nvPr/>
        </p:nvSpPr>
        <p:spPr>
          <a:xfrm>
            <a:off x="2779200" y="3268800"/>
            <a:ext cx="3584880" cy="654840"/>
          </a:xfrm>
          <a:prstGeom prst="flowChartAlternateProcess">
            <a:avLst/>
          </a:prstGeom>
          <a:solidFill>
            <a:srgbClr val="b4a7d6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Random Access Memory (RAM)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5" name="Google Shape;365;p37"/>
          <p:cNvSpPr/>
          <p:nvPr/>
        </p:nvSpPr>
        <p:spPr>
          <a:xfrm>
            <a:off x="2482560" y="4122720"/>
            <a:ext cx="4178520" cy="654840"/>
          </a:xfrm>
          <a:prstGeom prst="flowChartAlternateProcess">
            <a:avLst/>
          </a:prstGeom>
          <a:solidFill>
            <a:srgbClr val="c27ba0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Disk” Memory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6" name="Google Shape;366;p37"/>
          <p:cNvSpPr/>
          <p:nvPr/>
        </p:nvSpPr>
        <p:spPr>
          <a:xfrm>
            <a:off x="464040" y="713520"/>
            <a:ext cx="177912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Latency (nanoseconds)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7" name="Google Shape;367;p37"/>
          <p:cNvSpPr/>
          <p:nvPr/>
        </p:nvSpPr>
        <p:spPr>
          <a:xfrm>
            <a:off x="1159920" y="3432600"/>
            <a:ext cx="1053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63.9 - 100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8" name="Google Shape;368;p37"/>
          <p:cNvSpPr/>
          <p:nvPr/>
        </p:nvSpPr>
        <p:spPr>
          <a:xfrm>
            <a:off x="1084680" y="1359000"/>
            <a:ext cx="360" cy="2708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595959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Google Shape;369;p37"/>
          <p:cNvSpPr/>
          <p:nvPr/>
        </p:nvSpPr>
        <p:spPr>
          <a:xfrm>
            <a:off x="1159920" y="1329120"/>
            <a:ext cx="1053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~ 0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0" name="Google Shape;370;p37"/>
          <p:cNvSpPr/>
          <p:nvPr/>
        </p:nvSpPr>
        <p:spPr>
          <a:xfrm rot="16200000">
            <a:off x="-61560" y="2498400"/>
            <a:ext cx="17791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Better Performance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1" name="Google Shape;371;p37"/>
          <p:cNvSpPr/>
          <p:nvPr/>
        </p:nvSpPr>
        <p:spPr>
          <a:xfrm>
            <a:off x="6982200" y="743400"/>
            <a:ext cx="177912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Size (bytes)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2" name="Google Shape;372;p37"/>
          <p:cNvSpPr/>
          <p:nvPr/>
        </p:nvSpPr>
        <p:spPr>
          <a:xfrm>
            <a:off x="7083000" y="1329120"/>
            <a:ext cx="1053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192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3" name="Google Shape;373;p37"/>
          <p:cNvSpPr/>
          <p:nvPr/>
        </p:nvSpPr>
        <p:spPr>
          <a:xfrm>
            <a:off x="7083000" y="3432600"/>
            <a:ext cx="1053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2G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4" name="Google Shape;374;p37"/>
          <p:cNvSpPr/>
          <p:nvPr/>
        </p:nvSpPr>
        <p:spPr>
          <a:xfrm>
            <a:off x="8106480" y="1217160"/>
            <a:ext cx="360" cy="2708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Google Shape;375;p37"/>
          <p:cNvSpPr/>
          <p:nvPr/>
        </p:nvSpPr>
        <p:spPr>
          <a:xfrm rot="5400000">
            <a:off x="7473960" y="2315160"/>
            <a:ext cx="17791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More Storage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6" name="Google Shape;376;p37"/>
          <p:cNvSpPr/>
          <p:nvPr/>
        </p:nvSpPr>
        <p:spPr>
          <a:xfrm>
            <a:off x="7083000" y="2030400"/>
            <a:ext cx="1053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32k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7" name="Google Shape;377;p37"/>
          <p:cNvSpPr/>
          <p:nvPr/>
        </p:nvSpPr>
        <p:spPr>
          <a:xfrm>
            <a:off x="7083000" y="2731680"/>
            <a:ext cx="1053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256k / 2M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8" name="Google Shape;378;p37"/>
          <p:cNvSpPr/>
          <p:nvPr/>
        </p:nvSpPr>
        <p:spPr>
          <a:xfrm>
            <a:off x="1159920" y="2030040"/>
            <a:ext cx="1053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1.1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9" name="Google Shape;379;p37"/>
          <p:cNvSpPr/>
          <p:nvPr/>
        </p:nvSpPr>
        <p:spPr>
          <a:xfrm>
            <a:off x="1159920" y="2731680"/>
            <a:ext cx="1053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3.3 / 7.2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60" name="Google Shape;380;p37"/>
          <p:cNvSpPr/>
          <p:nvPr/>
        </p:nvSpPr>
        <p:spPr>
          <a:xfrm>
            <a:off x="623160" y="4816080"/>
            <a:ext cx="852012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Numbers based on Intel Sandy Bridge assuming 3.6 GHz CPU (ca. 2012); </a:t>
            </a:r>
            <a:r>
              <a:rPr b="0" i="1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The Science of Computing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, Victor Eijkhout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61" name="Google Shape;381;p37"/>
          <p:cNvSpPr/>
          <p:nvPr/>
        </p:nvSpPr>
        <p:spPr>
          <a:xfrm>
            <a:off x="2185920" y="4030200"/>
            <a:ext cx="4765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7" dur="indefinite" restart="never" nodeType="tmRoot">
          <p:childTnLst>
            <p:seq>
              <p:cTn id="198" dur="indefinite" nodeType="mainSeq">
                <p:childTnLst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311760" y="17064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Memory Hierarchy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Google Shape;387;p38"/>
          <p:cNvSpPr/>
          <p:nvPr/>
        </p:nvSpPr>
        <p:spPr>
          <a:xfrm>
            <a:off x="4398120" y="1469880"/>
            <a:ext cx="1566720" cy="654840"/>
          </a:xfrm>
          <a:prstGeom prst="flowChartAlternateProcess">
            <a:avLst/>
          </a:prstGeom>
          <a:solidFill>
            <a:srgbClr val="d9ead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64" name="Google Shape;388;p38"/>
          <p:cNvSpPr/>
          <p:nvPr/>
        </p:nvSpPr>
        <p:spPr>
          <a:xfrm>
            <a:off x="4017600" y="2171160"/>
            <a:ext cx="2328120" cy="654840"/>
          </a:xfrm>
          <a:prstGeom prst="flowChartAlternateProcess">
            <a:avLst/>
          </a:prstGeom>
          <a:solidFill>
            <a:srgbClr val="cfe2f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L1 Cache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65" name="Google Shape;389;p38"/>
          <p:cNvSpPr/>
          <p:nvPr/>
        </p:nvSpPr>
        <p:spPr>
          <a:xfrm>
            <a:off x="3707640" y="2872440"/>
            <a:ext cx="2947680" cy="654840"/>
          </a:xfrm>
          <a:prstGeom prst="flowChartAlternateProcess">
            <a:avLst/>
          </a:prstGeom>
          <a:solidFill>
            <a:srgbClr val="c9daf8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L2/L3 Cache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66" name="Google Shape;390;p38"/>
          <p:cNvSpPr/>
          <p:nvPr/>
        </p:nvSpPr>
        <p:spPr>
          <a:xfrm>
            <a:off x="3389040" y="3573720"/>
            <a:ext cx="3584880" cy="654840"/>
          </a:xfrm>
          <a:prstGeom prst="flowChartAlternateProcess">
            <a:avLst/>
          </a:prstGeom>
          <a:solidFill>
            <a:srgbClr val="b4a7d6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Random Access Memory (RAM)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67" name="Google Shape;391;p38"/>
          <p:cNvSpPr/>
          <p:nvPr/>
        </p:nvSpPr>
        <p:spPr>
          <a:xfrm>
            <a:off x="1271520" y="1262880"/>
            <a:ext cx="1496520" cy="46368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c = a + b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68" name="Google Shape;392;p38"/>
          <p:cNvSpPr/>
          <p:nvPr/>
        </p:nvSpPr>
        <p:spPr>
          <a:xfrm flipH="1" rot="10800000">
            <a:off x="3389400" y="3200400"/>
            <a:ext cx="318240" cy="700920"/>
          </a:xfrm>
          <a:prstGeom prst="curvedConnector3">
            <a:avLst>
              <a:gd name="adj1" fmla="val -74741"/>
            </a:avLst>
          </a:pr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69" name="Google Shape;393;p38"/>
          <p:cNvSpPr/>
          <p:nvPr/>
        </p:nvSpPr>
        <p:spPr>
          <a:xfrm flipH="1" rot="10800000">
            <a:off x="3708000" y="2499120"/>
            <a:ext cx="309600" cy="700920"/>
          </a:xfrm>
          <a:prstGeom prst="curvedConnector3">
            <a:avLst>
              <a:gd name="adj1" fmla="val -76839"/>
            </a:avLst>
          </a:pr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70" name="Google Shape;394;p38"/>
          <p:cNvSpPr/>
          <p:nvPr/>
        </p:nvSpPr>
        <p:spPr>
          <a:xfrm flipH="1" rot="10800000">
            <a:off x="4016880" y="1797840"/>
            <a:ext cx="380520" cy="700920"/>
          </a:xfrm>
          <a:prstGeom prst="curvedConnector3">
            <a:avLst>
              <a:gd name="adj1" fmla="val -62549"/>
            </a:avLst>
          </a:pr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Google Shape;395;p38"/>
          <p:cNvSpPr/>
          <p:nvPr/>
        </p:nvSpPr>
        <p:spPr>
          <a:xfrm>
            <a:off x="2398320" y="3358800"/>
            <a:ext cx="7459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a, 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72" name="Google Shape;396;p38"/>
          <p:cNvSpPr/>
          <p:nvPr/>
        </p:nvSpPr>
        <p:spPr>
          <a:xfrm>
            <a:off x="5965200" y="1797480"/>
            <a:ext cx="380520" cy="700920"/>
          </a:xfrm>
          <a:prstGeom prst="curvedConnector3">
            <a:avLst>
              <a:gd name="adj1" fmla="val 162549"/>
            </a:avLst>
          </a:pr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73" name="Google Shape;397;p38"/>
          <p:cNvSpPr/>
          <p:nvPr/>
        </p:nvSpPr>
        <p:spPr>
          <a:xfrm>
            <a:off x="6345720" y="2498760"/>
            <a:ext cx="309600" cy="700920"/>
          </a:xfrm>
          <a:prstGeom prst="curvedConnector3">
            <a:avLst>
              <a:gd name="adj1" fmla="val 176839"/>
            </a:avLst>
          </a:pr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Google Shape;398;p38"/>
          <p:cNvSpPr/>
          <p:nvPr/>
        </p:nvSpPr>
        <p:spPr>
          <a:xfrm>
            <a:off x="6655680" y="3200040"/>
            <a:ext cx="318240" cy="700920"/>
          </a:xfrm>
          <a:prstGeom prst="curvedConnector3">
            <a:avLst>
              <a:gd name="adj1" fmla="val 174741"/>
            </a:avLst>
          </a:pr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Google Shape;399;p38"/>
          <p:cNvSpPr/>
          <p:nvPr/>
        </p:nvSpPr>
        <p:spPr>
          <a:xfrm>
            <a:off x="6384240" y="1605960"/>
            <a:ext cx="7459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3" dur="indefinite" restart="never" nodeType="tmRoot">
          <p:childTnLst>
            <p:seq>
              <p:cTn id="204" dur="indefinite" nodeType="mainSeq">
                <p:childTnLst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311760" y="17064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Memory Hierarchy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Google Shape;405;p39"/>
          <p:cNvSpPr/>
          <p:nvPr/>
        </p:nvSpPr>
        <p:spPr>
          <a:xfrm>
            <a:off x="4398120" y="1469880"/>
            <a:ext cx="1566720" cy="654840"/>
          </a:xfrm>
          <a:prstGeom prst="flowChartAlternateProcess">
            <a:avLst/>
          </a:prstGeom>
          <a:solidFill>
            <a:srgbClr val="d9ead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78" name="Google Shape;406;p39"/>
          <p:cNvSpPr/>
          <p:nvPr/>
        </p:nvSpPr>
        <p:spPr>
          <a:xfrm>
            <a:off x="4017600" y="2171160"/>
            <a:ext cx="2328120" cy="654840"/>
          </a:xfrm>
          <a:prstGeom prst="flowChartAlternateProcess">
            <a:avLst/>
          </a:prstGeom>
          <a:solidFill>
            <a:srgbClr val="cfe2f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L1 Cache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79" name="Google Shape;407;p39"/>
          <p:cNvSpPr/>
          <p:nvPr/>
        </p:nvSpPr>
        <p:spPr>
          <a:xfrm>
            <a:off x="3707640" y="2872440"/>
            <a:ext cx="2947680" cy="654840"/>
          </a:xfrm>
          <a:prstGeom prst="flowChartAlternateProcess">
            <a:avLst/>
          </a:prstGeom>
          <a:solidFill>
            <a:srgbClr val="c9daf8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L2/L3 Cache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0" name="Google Shape;408;p39"/>
          <p:cNvSpPr/>
          <p:nvPr/>
        </p:nvSpPr>
        <p:spPr>
          <a:xfrm>
            <a:off x="3389040" y="3573720"/>
            <a:ext cx="3584880" cy="654840"/>
          </a:xfrm>
          <a:prstGeom prst="flowChartAlternateProcess">
            <a:avLst/>
          </a:prstGeom>
          <a:solidFill>
            <a:srgbClr val="b4a7d6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Random Access Memory (RAM)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1" name="Google Shape;409;p39"/>
          <p:cNvSpPr/>
          <p:nvPr/>
        </p:nvSpPr>
        <p:spPr>
          <a:xfrm>
            <a:off x="1091520" y="1182240"/>
            <a:ext cx="2117160" cy="7009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" sz="1600" spc="-1" strike="noStrike">
                <a:solidFill>
                  <a:srgbClr val="000000"/>
                </a:solidFill>
                <a:latin typeface="Arial"/>
                <a:ea typeface="Arial"/>
              </a:rPr>
              <a:t>Some time later…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Arial"/>
                <a:ea typeface="Arial"/>
              </a:rPr>
              <a:t>d = 2*b + c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82" name="Google Shape;410;p39"/>
          <p:cNvSpPr/>
          <p:nvPr/>
        </p:nvSpPr>
        <p:spPr>
          <a:xfrm flipH="1" rot="10800000">
            <a:off x="4016880" y="1797840"/>
            <a:ext cx="380520" cy="700920"/>
          </a:xfrm>
          <a:prstGeom prst="curvedConnector3">
            <a:avLst>
              <a:gd name="adj1" fmla="val -62549"/>
            </a:avLst>
          </a:prstGeom>
          <a:noFill/>
          <a:ln w="2857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83" name="Google Shape;411;p39"/>
          <p:cNvSpPr/>
          <p:nvPr/>
        </p:nvSpPr>
        <p:spPr>
          <a:xfrm>
            <a:off x="3092400" y="1956600"/>
            <a:ext cx="7459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b, c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4" name="Google Shape;412;p39"/>
          <p:cNvSpPr/>
          <p:nvPr/>
        </p:nvSpPr>
        <p:spPr>
          <a:xfrm>
            <a:off x="5965200" y="1797480"/>
            <a:ext cx="380520" cy="700920"/>
          </a:xfrm>
          <a:prstGeom prst="curvedConnector3">
            <a:avLst>
              <a:gd name="adj1" fmla="val 162549"/>
            </a:avLst>
          </a:pr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Google Shape;413;p39"/>
          <p:cNvSpPr/>
          <p:nvPr/>
        </p:nvSpPr>
        <p:spPr>
          <a:xfrm>
            <a:off x="6345720" y="2498760"/>
            <a:ext cx="309600" cy="700920"/>
          </a:xfrm>
          <a:prstGeom prst="curvedConnector3">
            <a:avLst>
              <a:gd name="adj1" fmla="val 176839"/>
            </a:avLst>
          </a:pr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86" name="Google Shape;414;p39"/>
          <p:cNvSpPr/>
          <p:nvPr/>
        </p:nvSpPr>
        <p:spPr>
          <a:xfrm>
            <a:off x="6655680" y="3200040"/>
            <a:ext cx="318240" cy="700920"/>
          </a:xfrm>
          <a:prstGeom prst="curvedConnector3">
            <a:avLst>
              <a:gd name="adj1" fmla="val 174741"/>
            </a:avLst>
          </a:pr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87" name="Google Shape;415;p39"/>
          <p:cNvSpPr/>
          <p:nvPr/>
        </p:nvSpPr>
        <p:spPr>
          <a:xfrm>
            <a:off x="6384240" y="1605960"/>
            <a:ext cx="7459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d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3" dur="indefinite" restart="never" nodeType="tmRoot">
          <p:childTnLst>
            <p:seq>
              <p:cTn id="234" dur="indefinite" nodeType="mainSeq">
                <p:childTnLst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311760" y="2163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Review so far…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2"/>
          <p:cNvSpPr>
            <a:spLocks noGrp="1"/>
          </p:cNvSpPr>
          <p:nvPr>
            <p:ph/>
          </p:nvPr>
        </p:nvSpPr>
        <p:spPr>
          <a:xfrm>
            <a:off x="311760" y="9237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Processors execute instructions on data in a “fetch, execute, store” cycle.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Memory is organized as a hierarchy with data copied between levels.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Levels trade-off between storage capacity and speed.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The hierarchy makes it easier to reuse data and avoid data transfer.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Google Shape;422;p40"/>
          <p:cNvSpPr/>
          <p:nvPr/>
        </p:nvSpPr>
        <p:spPr>
          <a:xfrm>
            <a:off x="2041560" y="2462760"/>
            <a:ext cx="1110600" cy="469800"/>
          </a:xfrm>
          <a:prstGeom prst="flowChartAlternateProcess">
            <a:avLst/>
          </a:prstGeom>
          <a:solidFill>
            <a:srgbClr val="d9ead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Registers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1" name="Google Shape;423;p40"/>
          <p:cNvSpPr/>
          <p:nvPr/>
        </p:nvSpPr>
        <p:spPr>
          <a:xfrm>
            <a:off x="1771560" y="2966040"/>
            <a:ext cx="1650960" cy="469800"/>
          </a:xfrm>
          <a:prstGeom prst="flowChartAlternateProcess">
            <a:avLst/>
          </a:prstGeom>
          <a:solidFill>
            <a:srgbClr val="cfe2f3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L1 Cache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2" name="Google Shape;424;p40"/>
          <p:cNvSpPr/>
          <p:nvPr/>
        </p:nvSpPr>
        <p:spPr>
          <a:xfrm>
            <a:off x="1551960" y="3469320"/>
            <a:ext cx="2090160" cy="469800"/>
          </a:xfrm>
          <a:prstGeom prst="flowChartAlternateProcess">
            <a:avLst/>
          </a:prstGeom>
          <a:solidFill>
            <a:srgbClr val="c9daf8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L2/L3 Cache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3" name="Google Shape;425;p40"/>
          <p:cNvSpPr/>
          <p:nvPr/>
        </p:nvSpPr>
        <p:spPr>
          <a:xfrm>
            <a:off x="1325880" y="3972600"/>
            <a:ext cx="2542320" cy="469800"/>
          </a:xfrm>
          <a:prstGeom prst="flowChartAlternateProcess">
            <a:avLst/>
          </a:prstGeom>
          <a:solidFill>
            <a:srgbClr val="b4a7d6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Random Access Memory (RAM)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4" name="Google Shape;426;p40"/>
          <p:cNvSpPr/>
          <p:nvPr/>
        </p:nvSpPr>
        <p:spPr>
          <a:xfrm>
            <a:off x="4145760" y="2462760"/>
            <a:ext cx="3551760" cy="255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For current instructions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500"/>
              </a:spcBef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One per CPU core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500"/>
              </a:spcBef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On CPU die, shared by cores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500"/>
              </a:spcBef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Current program instructions and data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500"/>
              </a:spcBef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Long-term storage; must </a:t>
            </a:r>
            <a:r>
              <a:rPr b="0" i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explicitly</a:t>
            </a: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access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500"/>
              </a:spcBef>
              <a:spcAft>
                <a:spcPts val="2500"/>
              </a:spcAft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</p:txBody>
      </p:sp>
      <p:grpSp>
        <p:nvGrpSpPr>
          <p:cNvPr id="495" name="Google Shape;427;p40"/>
          <p:cNvGrpSpPr/>
          <p:nvPr/>
        </p:nvGrpSpPr>
        <p:grpSpPr>
          <a:xfrm>
            <a:off x="129960" y="2700000"/>
            <a:ext cx="443520" cy="2121840"/>
            <a:chOff x="129960" y="2700000"/>
            <a:chExt cx="443520" cy="2121840"/>
          </a:xfrm>
        </p:grpSpPr>
        <p:sp>
          <p:nvSpPr>
            <p:cNvPr id="496" name="Google Shape;428;p40"/>
            <p:cNvSpPr/>
            <p:nvPr/>
          </p:nvSpPr>
          <p:spPr>
            <a:xfrm>
              <a:off x="573120" y="2778480"/>
              <a:ext cx="360" cy="1963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19050">
              <a:solidFill>
                <a:srgbClr val="595959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7" name="Google Shape;429;p40"/>
            <p:cNvSpPr/>
            <p:nvPr/>
          </p:nvSpPr>
          <p:spPr>
            <a:xfrm rot="16200000">
              <a:off x="-744840" y="3574800"/>
              <a:ext cx="2121840" cy="37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b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Better Latency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498" name="Google Shape;430;p40"/>
          <p:cNvGrpSpPr/>
          <p:nvPr/>
        </p:nvGrpSpPr>
        <p:grpSpPr>
          <a:xfrm>
            <a:off x="713520" y="2778480"/>
            <a:ext cx="513720" cy="1963800"/>
            <a:chOff x="713520" y="2778480"/>
            <a:chExt cx="513720" cy="1963800"/>
          </a:xfrm>
        </p:grpSpPr>
        <p:sp>
          <p:nvSpPr>
            <p:cNvPr id="499" name="Google Shape;431;p40"/>
            <p:cNvSpPr/>
            <p:nvPr/>
          </p:nvSpPr>
          <p:spPr>
            <a:xfrm>
              <a:off x="713520" y="2778480"/>
              <a:ext cx="360" cy="1963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19050">
              <a:solidFill>
                <a:srgbClr val="595959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0" name="Google Shape;432;p40"/>
            <p:cNvSpPr/>
            <p:nvPr/>
          </p:nvSpPr>
          <p:spPr>
            <a:xfrm rot="5400000">
              <a:off x="325440" y="3503520"/>
              <a:ext cx="1289520" cy="51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b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More Storage</a:t>
              </a:r>
              <a:endParaRPr b="0" lang="en-US" sz="1400" spc="-1" strike="noStrike">
                <a:latin typeface="Arial"/>
              </a:endParaRPr>
            </a:p>
          </p:txBody>
        </p:sp>
      </p:grpSp>
      <p:sp>
        <p:nvSpPr>
          <p:cNvPr id="501" name="Google Shape;433;p40"/>
          <p:cNvSpPr/>
          <p:nvPr/>
        </p:nvSpPr>
        <p:spPr>
          <a:xfrm>
            <a:off x="1106280" y="4475880"/>
            <a:ext cx="2959920" cy="469800"/>
          </a:xfrm>
          <a:prstGeom prst="flowChartAlternateProcess">
            <a:avLst/>
          </a:prstGeom>
          <a:solidFill>
            <a:srgbClr val="c27ba0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Disk” Memory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Exercise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 CPU core needs to fetch data.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Arial"/>
              <a:buAutoNum type="alphaLcPeriod"/>
            </a:pP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Thinking about the memory hierarchy, where will it </a:t>
            </a:r>
            <a:r>
              <a:rPr b="0" i="1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first</a:t>
            </a: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 look for the data it needs?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Arial"/>
              <a:buAutoNum type="alphaLcPeriod"/>
            </a:pP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If the data isn’t in that first location, where will it look next?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95959"/>
              </a:buClr>
              <a:buFont typeface="Arial"/>
              <a:buAutoNum type="arabicPeriod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 CPU core is trying to fetch data for “y = m*x + b”. The value for “x” was just used for the most recent set of instructions and is still in the register. The variable “m” was last updated a while ago and is still in L2 cache. Variable “b” is only in RAM.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Arial"/>
              <a:buAutoNum type="alphaLcPeriod"/>
            </a:pP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Diagram the movement (if any) of x, m, and b through the memory hierarchy.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Arial"/>
              <a:buAutoNum type="alphaLcPeriod"/>
            </a:pP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Which levels of the memory hierarchy have a copy of variables m and b?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How Does Memory Work?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We’ll cover: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How information is stored in memory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How data moves through a computer (in more detail)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How we can exploit data movement for better performance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Memory Addresses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Memory is referenced with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addresses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, like lots on a street.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Addresses get assigned to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variables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,</a:t>
            </a:r>
            <a:br>
              <a:rPr sz="1800"/>
            </a:b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like new houses being built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8" name="Google Shape;452;p43" descr=""/>
          <p:cNvPicPr/>
          <p:nvPr/>
        </p:nvPicPr>
        <p:blipFill>
          <a:blip r:embed="rId1"/>
          <a:stretch/>
        </p:blipFill>
        <p:spPr>
          <a:xfrm>
            <a:off x="5623200" y="1664640"/>
            <a:ext cx="3208680" cy="3269880"/>
          </a:xfrm>
          <a:prstGeom prst="rect">
            <a:avLst/>
          </a:prstGeom>
          <a:ln w="0">
            <a:noFill/>
          </a:ln>
        </p:spPr>
      </p:pic>
      <p:sp>
        <p:nvSpPr>
          <p:cNvPr id="509" name="Google Shape;453;p43"/>
          <p:cNvSpPr/>
          <p:nvPr/>
        </p:nvSpPr>
        <p:spPr>
          <a:xfrm>
            <a:off x="1321200" y="4703760"/>
            <a:ext cx="782244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b="0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Computer Memory, Variables, Variable Types, Arrays and Structures,” Herbert J. Bernstein</a:t>
            </a:r>
            <a:endParaRPr b="0" lang="en-US" sz="1000" spc="-1" strike="noStrike">
              <a:latin typeface="Arial"/>
            </a:endParaRPr>
          </a:p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http://www.bernstein-plus-sons.com/.sjcny/Computer_Memory.html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Memory Addresses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Memory is referenced with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addresses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, like lots on a street.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Addresses get assigned to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variables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,</a:t>
            </a:r>
            <a:br>
              <a:rPr sz="1800"/>
            </a:b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like new houses being built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Houses can be of varying sizes and even</a:t>
            </a:r>
            <a:br>
              <a:rPr sz="1800"/>
            </a:b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occupy multiple lots.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Variables, too, can span </a:t>
            </a:r>
            <a:br>
              <a:rPr sz="1800"/>
            </a:b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multiple addresses.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Variable structure is defined by its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type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2" name="Google Shape;460;p44" descr=""/>
          <p:cNvPicPr/>
          <p:nvPr/>
        </p:nvPicPr>
        <p:blipFill>
          <a:blip r:embed="rId1"/>
          <a:srcRect l="118" t="0" r="118" b="0"/>
          <a:stretch/>
        </p:blipFill>
        <p:spPr>
          <a:xfrm>
            <a:off x="5665680" y="1664640"/>
            <a:ext cx="3166560" cy="3171600"/>
          </a:xfrm>
          <a:prstGeom prst="rect">
            <a:avLst/>
          </a:prstGeom>
          <a:ln w="0">
            <a:noFill/>
          </a:ln>
        </p:spPr>
      </p:pic>
      <p:sp>
        <p:nvSpPr>
          <p:cNvPr id="513" name="Google Shape;461;p44"/>
          <p:cNvSpPr/>
          <p:nvPr/>
        </p:nvSpPr>
        <p:spPr>
          <a:xfrm>
            <a:off x="1321200" y="4703760"/>
            <a:ext cx="782244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b="0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Computer Memory, Variables, Variable Types, Arrays and Structures,” Herbert J. Bernstein</a:t>
            </a:r>
            <a:endParaRPr b="0" lang="en-US" sz="1000" spc="-1" strike="noStrike">
              <a:latin typeface="Arial"/>
            </a:endParaRPr>
          </a:p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http://www.bernstein-plus-sons.com/.sjcny/Computer_Memory.html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4" name="Google Shape;466;p45"/>
          <p:cNvGraphicFramePr/>
          <p:nvPr/>
        </p:nvGraphicFramePr>
        <p:xfrm>
          <a:off x="1829520" y="1977480"/>
          <a:ext cx="6625080" cy="1188360"/>
        </p:xfrm>
        <a:graphic>
          <a:graphicData uri="http://schemas.openxmlformats.org/drawingml/2006/table">
            <a:tbl>
              <a:tblPr/>
              <a:tblGrid>
                <a:gridCol w="828000"/>
                <a:gridCol w="828000"/>
                <a:gridCol w="828000"/>
                <a:gridCol w="828000"/>
                <a:gridCol w="828000"/>
                <a:gridCol w="828000"/>
                <a:gridCol w="828000"/>
                <a:gridCol w="829080"/>
              </a:tblGrid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houses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mv_in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mv_out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n_dogs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n_cats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n_birds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n_other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1012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1016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1020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1024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1028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636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57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15" name="Google Shape;467;p45"/>
          <p:cNvSpPr/>
          <p:nvPr/>
        </p:nvSpPr>
        <p:spPr>
          <a:xfrm>
            <a:off x="566640" y="242712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Address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16" name="Google Shape;468;p45"/>
          <p:cNvSpPr/>
          <p:nvPr/>
        </p:nvSpPr>
        <p:spPr>
          <a:xfrm>
            <a:off x="566640" y="285552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Value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17" name="Google Shape;469;p45"/>
          <p:cNvSpPr/>
          <p:nvPr/>
        </p:nvSpPr>
        <p:spPr>
          <a:xfrm>
            <a:off x="566640" y="204624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Variable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18" name="Google Shape;470;p45"/>
          <p:cNvSpPr/>
          <p:nvPr/>
        </p:nvSpPr>
        <p:spPr>
          <a:xfrm>
            <a:off x="488520" y="2373480"/>
            <a:ext cx="8018280" cy="387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9" name="Google Shape;471;p45"/>
          <p:cNvSpPr/>
          <p:nvPr/>
        </p:nvSpPr>
        <p:spPr>
          <a:xfrm>
            <a:off x="654480" y="2761560"/>
            <a:ext cx="7938720" cy="4809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5" dur="indefinite" restart="never" nodeType="tmRoot">
          <p:childTnLst>
            <p:seq>
              <p:cTn id="256" dur="indefinite" nodeType="mainSeq">
                <p:childTnLst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Cache Lines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Data is copied as consecutive lines of addresses, called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cache lines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Variables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near each other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in memory are transferred at the same time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Advantage: variables we </a:t>
            </a:r>
            <a:r>
              <a:rPr b="0" i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may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need next already have their data available!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482;p47"/>
          <p:cNvSpPr/>
          <p:nvPr/>
        </p:nvSpPr>
        <p:spPr>
          <a:xfrm>
            <a:off x="509760" y="2699280"/>
            <a:ext cx="8124120" cy="1943280"/>
          </a:xfrm>
          <a:prstGeom prst="flowChartAlternateProcess">
            <a:avLst/>
          </a:prstGeom>
          <a:solidFill>
            <a:srgbClr val="b4a7d6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RAM 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23" name="Google Shape;483;p47"/>
          <p:cNvSpPr/>
          <p:nvPr/>
        </p:nvSpPr>
        <p:spPr>
          <a:xfrm>
            <a:off x="637200" y="353664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Address</a:t>
            </a:r>
            <a:endParaRPr b="0" lang="en-US" sz="1400" spc="-1" strike="noStrike">
              <a:latin typeface="Arial"/>
            </a:endParaRPr>
          </a:p>
        </p:txBody>
      </p:sp>
      <p:graphicFrame>
        <p:nvGraphicFramePr>
          <p:cNvPr id="524" name="Google Shape;484;p47"/>
          <p:cNvGraphicFramePr/>
          <p:nvPr/>
        </p:nvGraphicFramePr>
        <p:xfrm>
          <a:off x="1929600" y="3127320"/>
          <a:ext cx="6625080" cy="1188360"/>
        </p:xfrm>
        <a:graphic>
          <a:graphicData uri="http://schemas.openxmlformats.org/drawingml/2006/table">
            <a:tbl>
              <a:tblPr/>
              <a:tblGrid>
                <a:gridCol w="828000"/>
                <a:gridCol w="828000"/>
                <a:gridCol w="828000"/>
                <a:gridCol w="828000"/>
                <a:gridCol w="828000"/>
                <a:gridCol w="828000"/>
                <a:gridCol w="828000"/>
                <a:gridCol w="829080"/>
              </a:tblGrid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houses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mv_in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mv_out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n_dogs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n_cats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n_birds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n_other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1012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1016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1020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1024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1028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636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57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25" name="Google Shape;485;p47"/>
          <p:cNvSpPr/>
          <p:nvPr/>
        </p:nvSpPr>
        <p:spPr>
          <a:xfrm>
            <a:off x="637200" y="396468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Value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26" name="Google Shape;486;p47"/>
          <p:cNvSpPr/>
          <p:nvPr/>
        </p:nvSpPr>
        <p:spPr>
          <a:xfrm>
            <a:off x="2757960" y="3522960"/>
            <a:ext cx="3312360" cy="792000"/>
          </a:xfrm>
          <a:prstGeom prst="rect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7" name="Google Shape;487;p47"/>
          <p:cNvSpPr/>
          <p:nvPr/>
        </p:nvSpPr>
        <p:spPr>
          <a:xfrm>
            <a:off x="4682160" y="1245600"/>
            <a:ext cx="3709080" cy="1312920"/>
          </a:xfrm>
          <a:prstGeom prst="flowChartAlternateProcess">
            <a:avLst/>
          </a:prstGeom>
          <a:solidFill>
            <a:srgbClr val="c9daf8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Cache</a:t>
            </a:r>
            <a:endParaRPr b="0" lang="en-US" sz="1400" spc="-1" strike="noStrike">
              <a:latin typeface="Arial"/>
            </a:endParaRPr>
          </a:p>
        </p:txBody>
      </p:sp>
      <p:graphicFrame>
        <p:nvGraphicFramePr>
          <p:cNvPr id="528" name="Google Shape;488;p47"/>
          <p:cNvGraphicFramePr/>
          <p:nvPr/>
        </p:nvGraphicFramePr>
        <p:xfrm>
          <a:off x="4779360" y="1625760"/>
          <a:ext cx="3514680" cy="792000"/>
        </p:xfrm>
        <a:graphic>
          <a:graphicData uri="http://schemas.openxmlformats.org/drawingml/2006/table">
            <a:tbl>
              <a:tblPr/>
              <a:tblGrid>
                <a:gridCol w="878760"/>
                <a:gridCol w="878760"/>
                <a:gridCol w="878760"/>
                <a:gridCol w="878760"/>
              </a:tblGrid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houses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mv_in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mv_out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n_dogs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57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29" name="Google Shape;489;p47"/>
          <p:cNvSpPr/>
          <p:nvPr/>
        </p:nvSpPr>
        <p:spPr>
          <a:xfrm flipH="1">
            <a:off x="2586600" y="2054880"/>
            <a:ext cx="2094120" cy="876600"/>
          </a:xfrm>
          <a:prstGeom prst="curvedConnector3">
            <a:avLst>
              <a:gd name="adj1" fmla="val 97724"/>
            </a:avLst>
          </a:prstGeom>
          <a:noFill/>
          <a:ln w="28575">
            <a:solidFill>
              <a:srgbClr val="ff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30" name="Google Shape;490;p47"/>
          <p:cNvSpPr/>
          <p:nvPr/>
        </p:nvSpPr>
        <p:spPr>
          <a:xfrm>
            <a:off x="683280" y="1263600"/>
            <a:ext cx="1619640" cy="1088640"/>
          </a:xfrm>
          <a:prstGeom prst="rect">
            <a:avLst/>
          </a:prstGeom>
          <a:solidFill>
            <a:schemeClr val="lt2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CPU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1" name="Google Shape;491;p47"/>
          <p:cNvSpPr/>
          <p:nvPr/>
        </p:nvSpPr>
        <p:spPr>
          <a:xfrm>
            <a:off x="2495160" y="1136160"/>
            <a:ext cx="1701000" cy="673560"/>
          </a:xfrm>
          <a:prstGeom prst="wedgeRoundRectCallout">
            <a:avLst>
              <a:gd name="adj1" fmla="val -72816"/>
              <a:gd name="adj2" fmla="val 26236"/>
              <a:gd name="adj3" fmla="val 0"/>
            </a:avLst>
          </a:prstGeom>
          <a:solidFill>
            <a:schemeClr val="lt1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What’s the value for “houses”?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2" name="Google Shape;492;p47"/>
          <p:cNvSpPr/>
          <p:nvPr/>
        </p:nvSpPr>
        <p:spPr>
          <a:xfrm>
            <a:off x="2495160" y="1130760"/>
            <a:ext cx="1701000" cy="673560"/>
          </a:xfrm>
          <a:prstGeom prst="wedgeRoundRectCallout">
            <a:avLst>
              <a:gd name="adj1" fmla="val -72816"/>
              <a:gd name="adj2" fmla="val 26236"/>
              <a:gd name="adj3" fmla="val 0"/>
            </a:avLst>
          </a:prstGeom>
          <a:solidFill>
            <a:schemeClr val="lt1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Great! What’s “n_dogs”?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3" name="Google Shape;493;p47"/>
          <p:cNvSpPr/>
          <p:nvPr/>
        </p:nvSpPr>
        <p:spPr>
          <a:xfrm>
            <a:off x="7415640" y="2022120"/>
            <a:ext cx="878400" cy="396720"/>
          </a:xfrm>
          <a:prstGeom prst="rect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4" name="Google Shape;494;p47"/>
          <p:cNvSpPr/>
          <p:nvPr/>
        </p:nvSpPr>
        <p:spPr>
          <a:xfrm>
            <a:off x="2479320" y="1287720"/>
            <a:ext cx="2123280" cy="973800"/>
          </a:xfrm>
          <a:prstGeom prst="rect">
            <a:avLst/>
          </a:prstGeom>
          <a:solidFill>
            <a:schemeClr val="lt1"/>
          </a:solidFill>
          <a:ln w="28575">
            <a:solidFill>
              <a:srgbClr val="98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What happens if the CPU requests “n_cats”?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5" name="Google Shape;495;p47"/>
          <p:cNvSpPr/>
          <p:nvPr/>
        </p:nvSpPr>
        <p:spPr>
          <a:xfrm>
            <a:off x="637200" y="316692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Variable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6" name="Google Shape;496;p47"/>
          <p:cNvSpPr/>
          <p:nvPr/>
        </p:nvSpPr>
        <p:spPr>
          <a:xfrm>
            <a:off x="4779360" y="2022120"/>
            <a:ext cx="878400" cy="396720"/>
          </a:xfrm>
          <a:prstGeom prst="rect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7" name="PlaceHolder 1"/>
          <p:cNvSpPr>
            <a:spLocks noGrp="1"/>
          </p:cNvSpPr>
          <p:nvPr>
            <p:ph/>
          </p:nvPr>
        </p:nvSpPr>
        <p:spPr>
          <a:xfrm>
            <a:off x="311760" y="390600"/>
            <a:ext cx="8520120" cy="504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algn="ctr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Data is copied as consecutive lines of addresses, called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cache lines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5" dur="indefinite" restart="never" nodeType="tmRoot">
          <p:childTnLst>
            <p:seq>
              <p:cTn id="266" dur="indefinite" nodeType="mainSeq">
                <p:childTnLst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Lists, Tuples, &amp; NumPy Arrays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900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These are all a form of Python “container”.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Containers are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types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that contain data of another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type.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40" name="Google Shape;504;p48"/>
          <p:cNvGrpSpPr/>
          <p:nvPr/>
        </p:nvGrpSpPr>
        <p:grpSpPr>
          <a:xfrm>
            <a:off x="4730400" y="2052720"/>
            <a:ext cx="3634560" cy="2905560"/>
            <a:chOff x="4730400" y="2052720"/>
            <a:chExt cx="3634560" cy="2905560"/>
          </a:xfrm>
        </p:grpSpPr>
        <p:pic>
          <p:nvPicPr>
            <p:cNvPr id="541" name="Google Shape;505;p48" descr=""/>
            <p:cNvPicPr/>
            <p:nvPr/>
          </p:nvPicPr>
          <p:blipFill>
            <a:blip r:embed="rId1"/>
            <a:stretch/>
          </p:blipFill>
          <p:spPr>
            <a:xfrm>
              <a:off x="4730400" y="2432160"/>
              <a:ext cx="3634560" cy="25261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42" name="Google Shape;506;p48"/>
            <p:cNvSpPr/>
            <p:nvPr/>
          </p:nvSpPr>
          <p:spPr>
            <a:xfrm>
              <a:off x="5596200" y="2052720"/>
              <a:ext cx="1902960" cy="36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List Example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543" name="Google Shape;507;p48"/>
          <p:cNvGrpSpPr/>
          <p:nvPr/>
        </p:nvGrpSpPr>
        <p:grpSpPr>
          <a:xfrm>
            <a:off x="677160" y="2052720"/>
            <a:ext cx="3363120" cy="2939760"/>
            <a:chOff x="677160" y="2052720"/>
            <a:chExt cx="3363120" cy="2939760"/>
          </a:xfrm>
        </p:grpSpPr>
        <p:pic>
          <p:nvPicPr>
            <p:cNvPr id="544" name="Google Shape;508;p48" descr=""/>
            <p:cNvPicPr/>
            <p:nvPr/>
          </p:nvPicPr>
          <p:blipFill>
            <a:blip r:embed="rId2"/>
            <a:stretch/>
          </p:blipFill>
          <p:spPr>
            <a:xfrm>
              <a:off x="677160" y="2421000"/>
              <a:ext cx="3363120" cy="2571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45" name="Google Shape;509;p48"/>
            <p:cNvSpPr/>
            <p:nvPr/>
          </p:nvSpPr>
          <p:spPr>
            <a:xfrm>
              <a:off x="1407240" y="2052720"/>
              <a:ext cx="1902960" cy="36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Array Example</a:t>
              </a:r>
              <a:endParaRPr b="0" lang="en-US" sz="14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NumPy Arrays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7910280" cy="3075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NumPy arrays are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contiguous blocks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of memory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Each block is the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same size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arr = np.arange(5)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48" name="Google Shape;516;p49"/>
          <p:cNvGraphicFramePr/>
          <p:nvPr/>
        </p:nvGraphicFramePr>
        <p:xfrm>
          <a:off x="1287720" y="2901600"/>
          <a:ext cx="4140360" cy="1188360"/>
        </p:xfrm>
        <a:graphic>
          <a:graphicData uri="http://schemas.openxmlformats.org/drawingml/2006/table">
            <a:tbl>
              <a:tblPr/>
              <a:tblGrid>
                <a:gridCol w="828000"/>
                <a:gridCol w="828000"/>
                <a:gridCol w="828000"/>
                <a:gridCol w="828000"/>
                <a:gridCol w="828360"/>
              </a:tblGrid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arr[0]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arr[1]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arr[2]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arr[3]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arr[4]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1112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1116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1120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1124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1128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636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49" name="Google Shape;517;p49"/>
          <p:cNvSpPr/>
          <p:nvPr/>
        </p:nvSpPr>
        <p:spPr>
          <a:xfrm>
            <a:off x="180000" y="333720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Address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0" name="Google Shape;518;p49"/>
          <p:cNvSpPr/>
          <p:nvPr/>
        </p:nvSpPr>
        <p:spPr>
          <a:xfrm>
            <a:off x="180000" y="373608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Value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1" name="Google Shape;519;p49"/>
          <p:cNvSpPr/>
          <p:nvPr/>
        </p:nvSpPr>
        <p:spPr>
          <a:xfrm>
            <a:off x="180000" y="293832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Variable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2" name="Google Shape;520;p49"/>
          <p:cNvSpPr/>
          <p:nvPr/>
        </p:nvSpPr>
        <p:spPr>
          <a:xfrm flipH="1">
            <a:off x="5586480" y="3488400"/>
            <a:ext cx="517680" cy="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3" name="Google Shape;521;p49"/>
          <p:cNvSpPr/>
          <p:nvPr/>
        </p:nvSpPr>
        <p:spPr>
          <a:xfrm>
            <a:off x="6140880" y="3274920"/>
            <a:ext cx="23648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Evenly spaced addresses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NumPy Arrays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075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Size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and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type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must be known ahead of time to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allocate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memory</a:t>
            </a:r>
            <a:br>
              <a:rPr sz="1800"/>
            </a:b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Type tells us how big each “house” is</a:t>
            </a:r>
            <a:br>
              <a:rPr sz="1800"/>
            </a:br>
            <a:br>
              <a:rPr sz="1800"/>
            </a:br>
            <a:br>
              <a:rPr sz="1800"/>
            </a:br>
            <a:r>
              <a:rPr b="0" lang="en" sz="1800" spc="-1" strike="noStrike">
                <a:solidFill>
                  <a:srgbClr val="595959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Size tells us how many “houses”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6" name="Google Shape;528;p50" descr=""/>
          <p:cNvPicPr/>
          <p:nvPr/>
        </p:nvPicPr>
        <p:blipFill>
          <a:blip r:embed="rId1"/>
          <a:stretch/>
        </p:blipFill>
        <p:spPr>
          <a:xfrm>
            <a:off x="5780520" y="1997280"/>
            <a:ext cx="1045080" cy="1077120"/>
          </a:xfrm>
          <a:prstGeom prst="rect">
            <a:avLst/>
          </a:prstGeom>
          <a:ln w="0">
            <a:noFill/>
          </a:ln>
        </p:spPr>
      </p:pic>
      <p:pic>
        <p:nvPicPr>
          <p:cNvPr id="557" name="Google Shape;529;p50" descr=""/>
          <p:cNvPicPr/>
          <p:nvPr/>
        </p:nvPicPr>
        <p:blipFill>
          <a:blip r:embed="rId2"/>
          <a:stretch/>
        </p:blipFill>
        <p:spPr>
          <a:xfrm>
            <a:off x="4968720" y="2197440"/>
            <a:ext cx="656640" cy="677160"/>
          </a:xfrm>
          <a:prstGeom prst="rect">
            <a:avLst/>
          </a:prstGeom>
          <a:ln w="0">
            <a:noFill/>
          </a:ln>
        </p:spPr>
      </p:pic>
      <p:pic>
        <p:nvPicPr>
          <p:cNvPr id="558" name="Google Shape;530;p50" descr=""/>
          <p:cNvPicPr/>
          <p:nvPr/>
        </p:nvPicPr>
        <p:blipFill>
          <a:blip r:embed="rId3"/>
          <a:stretch/>
        </p:blipFill>
        <p:spPr>
          <a:xfrm>
            <a:off x="4392000" y="3459240"/>
            <a:ext cx="844920" cy="870840"/>
          </a:xfrm>
          <a:prstGeom prst="rect">
            <a:avLst/>
          </a:prstGeom>
          <a:ln w="0">
            <a:noFill/>
          </a:ln>
        </p:spPr>
      </p:pic>
      <p:pic>
        <p:nvPicPr>
          <p:cNvPr id="559" name="Google Shape;531;p50" descr=""/>
          <p:cNvPicPr/>
          <p:nvPr/>
        </p:nvPicPr>
        <p:blipFill>
          <a:blip r:embed="rId4"/>
          <a:stretch/>
        </p:blipFill>
        <p:spPr>
          <a:xfrm>
            <a:off x="5343120" y="3459240"/>
            <a:ext cx="844920" cy="870840"/>
          </a:xfrm>
          <a:prstGeom prst="rect">
            <a:avLst/>
          </a:prstGeom>
          <a:ln w="0">
            <a:noFill/>
          </a:ln>
        </p:spPr>
      </p:pic>
      <p:pic>
        <p:nvPicPr>
          <p:cNvPr id="560" name="Google Shape;532;p50" descr=""/>
          <p:cNvPicPr/>
          <p:nvPr/>
        </p:nvPicPr>
        <p:blipFill>
          <a:blip r:embed="rId5"/>
          <a:stretch/>
        </p:blipFill>
        <p:spPr>
          <a:xfrm>
            <a:off x="6293880" y="3459240"/>
            <a:ext cx="844920" cy="87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37;p51" descr=""/>
          <p:cNvPicPr/>
          <p:nvPr/>
        </p:nvPicPr>
        <p:blipFill>
          <a:blip r:embed="rId1"/>
          <a:stretch/>
        </p:blipFill>
        <p:spPr>
          <a:xfrm>
            <a:off x="460080" y="1428480"/>
            <a:ext cx="4567320" cy="2286000"/>
          </a:xfrm>
          <a:prstGeom prst="rect">
            <a:avLst/>
          </a:prstGeom>
          <a:ln w="0">
            <a:noFill/>
          </a:ln>
        </p:spPr>
      </p:pic>
      <p:sp>
        <p:nvSpPr>
          <p:cNvPr id="562" name="Google Shape;538;p51"/>
          <p:cNvSpPr/>
          <p:nvPr/>
        </p:nvSpPr>
        <p:spPr>
          <a:xfrm>
            <a:off x="5071680" y="875880"/>
            <a:ext cx="3445560" cy="273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How much memory do we need?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Enough for…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Five integers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Seven integers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Seven floats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6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Consider these arrays…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9" dur="indefinite" restart="never" nodeType="tmRoot">
          <p:childTnLst>
            <p:seq>
              <p:cTn id="310" dur="indefinite" nodeType="mainSeq">
                <p:childTnLst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NumPy Arrays &amp; Cache Lines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2316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The structure of NumPy arrays makes them work well with cache lines!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br>
              <a:rPr sz="1800"/>
            </a:b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arr = np.arange(5)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for item in arr: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	</a:t>
            </a: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print(item)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66" name="Google Shape;546;p52"/>
          <p:cNvGraphicFramePr/>
          <p:nvPr/>
        </p:nvGraphicFramePr>
        <p:xfrm>
          <a:off x="3969360" y="2093760"/>
          <a:ext cx="4140360" cy="1188360"/>
        </p:xfrm>
        <a:graphic>
          <a:graphicData uri="http://schemas.openxmlformats.org/drawingml/2006/table">
            <a:tbl>
              <a:tblPr/>
              <a:tblGrid>
                <a:gridCol w="828000"/>
                <a:gridCol w="828000"/>
                <a:gridCol w="828000"/>
                <a:gridCol w="828000"/>
                <a:gridCol w="828360"/>
              </a:tblGrid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arr[0]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arr[1]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arr[2]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arr[3]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arr[4]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1112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1116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1120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1124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1128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636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7" name="Google Shape;547;p52"/>
          <p:cNvSpPr/>
          <p:nvPr/>
        </p:nvSpPr>
        <p:spPr>
          <a:xfrm>
            <a:off x="3980880" y="2890800"/>
            <a:ext cx="4140720" cy="391320"/>
          </a:xfrm>
          <a:prstGeom prst="rect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8" name="Google Shape;548;p52"/>
          <p:cNvSpPr/>
          <p:nvPr/>
        </p:nvSpPr>
        <p:spPr>
          <a:xfrm>
            <a:off x="311760" y="3694320"/>
            <a:ext cx="8520120" cy="9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One request to RAM pulls multiple values into the cache.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We can use them one after another without additional fetches to RAM.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9" name="Google Shape;549;p52"/>
          <p:cNvSpPr/>
          <p:nvPr/>
        </p:nvSpPr>
        <p:spPr>
          <a:xfrm>
            <a:off x="3969360" y="2890800"/>
            <a:ext cx="828000" cy="391320"/>
          </a:xfrm>
          <a:prstGeom prst="rect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9" dur="indefinite" restart="never" nodeType="tmRoot">
          <p:childTnLst>
            <p:seq>
              <p:cTn id="360" dur="indefinite" nodeType="mainSeq">
                <p:childTnLst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Lists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7910280" cy="3075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Lists are </a:t>
            </a:r>
            <a:r>
              <a:rPr b="0" i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also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contiguous blocks of memory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But lists can hold objects of </a:t>
            </a:r>
            <a:r>
              <a:rPr b="0" i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any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type, including other lists!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Memory blocks are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not 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the same size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72" name="Google Shape;556;p53"/>
          <p:cNvGraphicFramePr/>
          <p:nvPr/>
        </p:nvGraphicFramePr>
        <p:xfrm>
          <a:off x="4195800" y="2993760"/>
          <a:ext cx="4558680" cy="1188360"/>
        </p:xfrm>
        <a:graphic>
          <a:graphicData uri="http://schemas.openxmlformats.org/drawingml/2006/table">
            <a:tbl>
              <a:tblPr/>
              <a:tblGrid>
                <a:gridCol w="1139760"/>
                <a:gridCol w="1139760"/>
                <a:gridCol w="1139760"/>
                <a:gridCol w="1139760"/>
              </a:tblGrid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lst[0]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lst[1]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lst[2]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lst[3]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1300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1302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1306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1314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636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a”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2.5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c”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73" name="Google Shape;557;p53"/>
          <p:cNvSpPr/>
          <p:nvPr/>
        </p:nvSpPr>
        <p:spPr>
          <a:xfrm>
            <a:off x="3137040" y="339264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Address*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4" name="Google Shape;558;p53"/>
          <p:cNvSpPr/>
          <p:nvPr/>
        </p:nvSpPr>
        <p:spPr>
          <a:xfrm>
            <a:off x="3137040" y="379152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Value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5" name="Google Shape;559;p53"/>
          <p:cNvSpPr/>
          <p:nvPr/>
        </p:nvSpPr>
        <p:spPr>
          <a:xfrm>
            <a:off x="3137040" y="299376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Variable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6" name="Google Shape;560;p53"/>
          <p:cNvSpPr/>
          <p:nvPr/>
        </p:nvSpPr>
        <p:spPr>
          <a:xfrm>
            <a:off x="5780160" y="4776480"/>
            <a:ext cx="3363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sp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* I made up the size of each block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77" name="Google Shape;561;p53"/>
          <p:cNvSpPr/>
          <p:nvPr/>
        </p:nvSpPr>
        <p:spPr>
          <a:xfrm>
            <a:off x="4362480" y="2436480"/>
            <a:ext cx="397152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lst = [“a”, 4, 2.5, “c”]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78" name="Google Shape;562;p53"/>
          <p:cNvSpPr/>
          <p:nvPr/>
        </p:nvSpPr>
        <p:spPr>
          <a:xfrm>
            <a:off x="311760" y="3299400"/>
            <a:ext cx="300312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If lists worked like arrays: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9" dur="indefinite" restart="never" nodeType="tmRoot">
          <p:childTnLst>
            <p:seq>
              <p:cTn id="380" dur="indefinite" nodeType="mainSeq">
                <p:childTnLst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Pointers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1347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Lists instead rely on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pointers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Pointers are a special type of variable whose </a:t>
            </a:r>
            <a:br>
              <a:rPr sz="1800"/>
            </a:b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value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is the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address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of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another variable 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somewhere else in memory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Google Shape;569;p54"/>
          <p:cNvSpPr/>
          <p:nvPr/>
        </p:nvSpPr>
        <p:spPr>
          <a:xfrm>
            <a:off x="1215000" y="342252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Address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82" name="Google Shape;570;p54"/>
          <p:cNvSpPr/>
          <p:nvPr/>
        </p:nvSpPr>
        <p:spPr>
          <a:xfrm>
            <a:off x="1215000" y="382176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Value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83" name="Google Shape;571;p54"/>
          <p:cNvSpPr/>
          <p:nvPr/>
        </p:nvSpPr>
        <p:spPr>
          <a:xfrm>
            <a:off x="1215000" y="302364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Variable</a:t>
            </a:r>
            <a:endParaRPr b="0" lang="en-US" sz="1400" spc="-1" strike="noStrike">
              <a:latin typeface="Arial"/>
            </a:endParaRPr>
          </a:p>
        </p:txBody>
      </p:sp>
      <p:graphicFrame>
        <p:nvGraphicFramePr>
          <p:cNvPr id="584" name="Google Shape;572;p54"/>
          <p:cNvGraphicFramePr/>
          <p:nvPr/>
        </p:nvGraphicFramePr>
        <p:xfrm>
          <a:off x="2355120" y="2988720"/>
          <a:ext cx="1355400" cy="1157760"/>
        </p:xfrm>
        <a:graphic>
          <a:graphicData uri="http://schemas.openxmlformats.org/drawingml/2006/table">
            <a:tbl>
              <a:tblPr/>
              <a:tblGrid>
                <a:gridCol w="1355760"/>
              </a:tblGrid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my_pointer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8232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8232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3256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85" name="Google Shape;573;p54"/>
          <p:cNvGraphicFramePr/>
          <p:nvPr/>
        </p:nvGraphicFramePr>
        <p:xfrm>
          <a:off x="4669920" y="2966040"/>
          <a:ext cx="1355400" cy="1157760"/>
        </p:xfrm>
        <a:graphic>
          <a:graphicData uri="http://schemas.openxmlformats.org/drawingml/2006/table">
            <a:tbl>
              <a:tblPr/>
              <a:tblGrid>
                <a:gridCol w="1355760"/>
              </a:tblGrid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&lt;no name&gt;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8232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3256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8232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hello”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86" name="Google Shape;574;p54"/>
          <p:cNvSpPr/>
          <p:nvPr/>
        </p:nvSpPr>
        <p:spPr>
          <a:xfrm flipH="1" rot="10800000">
            <a:off x="3716640" y="3566880"/>
            <a:ext cx="945720" cy="427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1" dur="indefinite" restart="never" nodeType="tmRoot">
          <p:childTnLst>
            <p:seq>
              <p:cTn id="402" dur="indefinite" nodeType="mainSeq">
                <p:childTnLst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79;p55"/>
          <p:cNvSpPr/>
          <p:nvPr/>
        </p:nvSpPr>
        <p:spPr>
          <a:xfrm>
            <a:off x="268560" y="209844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Address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88" name="Google Shape;580;p55"/>
          <p:cNvSpPr/>
          <p:nvPr/>
        </p:nvSpPr>
        <p:spPr>
          <a:xfrm>
            <a:off x="268560" y="249732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Value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89" name="Google Shape;581;p55"/>
          <p:cNvSpPr/>
          <p:nvPr/>
        </p:nvSpPr>
        <p:spPr>
          <a:xfrm>
            <a:off x="268560" y="1699200"/>
            <a:ext cx="11401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Variable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0" name="Google Shape;582;p55"/>
          <p:cNvSpPr/>
          <p:nvPr/>
        </p:nvSpPr>
        <p:spPr>
          <a:xfrm>
            <a:off x="1734480" y="1175040"/>
            <a:ext cx="397152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lst = [“a”, 4, 2.5, “c”]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591" name="Google Shape;583;p55"/>
          <p:cNvGraphicFramePr/>
          <p:nvPr/>
        </p:nvGraphicFramePr>
        <p:xfrm>
          <a:off x="1494360" y="1641600"/>
          <a:ext cx="4558680" cy="1188360"/>
        </p:xfrm>
        <a:graphic>
          <a:graphicData uri="http://schemas.openxmlformats.org/drawingml/2006/table">
            <a:tbl>
              <a:tblPr/>
              <a:tblGrid>
                <a:gridCol w="1139760"/>
                <a:gridCol w="1139760"/>
                <a:gridCol w="1139760"/>
                <a:gridCol w="1139760"/>
              </a:tblGrid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lst[0]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lst[1]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lst[2]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lst[3]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1300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1302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1304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1306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636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1624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2986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3210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3244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92" name="Google Shape;584;p55"/>
          <p:cNvSpPr/>
          <p:nvPr/>
        </p:nvSpPr>
        <p:spPr>
          <a:xfrm rot="10800000">
            <a:off x="6139080" y="2256840"/>
            <a:ext cx="318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93" name="Google Shape;585;p55"/>
          <p:cNvSpPr/>
          <p:nvPr/>
        </p:nvSpPr>
        <p:spPr>
          <a:xfrm>
            <a:off x="6542640" y="2035800"/>
            <a:ext cx="253152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Evenly spaced addresses :)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How lists </a:t>
            </a:r>
            <a:r>
              <a:rPr b="0" i="1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really</a:t>
            </a: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 work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Google Shape;587;p55"/>
          <p:cNvSpPr/>
          <p:nvPr/>
        </p:nvSpPr>
        <p:spPr>
          <a:xfrm rot="10800000">
            <a:off x="6139080" y="2634480"/>
            <a:ext cx="318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96" name="Google Shape;588;p55"/>
          <p:cNvSpPr/>
          <p:nvPr/>
        </p:nvSpPr>
        <p:spPr>
          <a:xfrm>
            <a:off x="6542640" y="2435040"/>
            <a:ext cx="253152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Address of actual data</a:t>
            </a:r>
            <a:endParaRPr b="0" lang="en-US" sz="1400" spc="-1" strike="noStrike">
              <a:latin typeface="Arial"/>
            </a:endParaRPr>
          </a:p>
        </p:txBody>
      </p:sp>
      <p:graphicFrame>
        <p:nvGraphicFramePr>
          <p:cNvPr id="597" name="Google Shape;589;p55"/>
          <p:cNvGraphicFramePr/>
          <p:nvPr/>
        </p:nvGraphicFramePr>
        <p:xfrm>
          <a:off x="472680" y="3566880"/>
          <a:ext cx="1355400" cy="1157760"/>
        </p:xfrm>
        <a:graphic>
          <a:graphicData uri="http://schemas.openxmlformats.org/drawingml/2006/table">
            <a:tbl>
              <a:tblPr/>
              <a:tblGrid>
                <a:gridCol w="1355760"/>
              </a:tblGrid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&lt;no name&gt;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564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1624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564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a”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98" name="Google Shape;590;p55"/>
          <p:cNvGraphicFramePr/>
          <p:nvPr/>
        </p:nvGraphicFramePr>
        <p:xfrm>
          <a:off x="2517120" y="3566880"/>
          <a:ext cx="1355400" cy="1157760"/>
        </p:xfrm>
        <a:graphic>
          <a:graphicData uri="http://schemas.openxmlformats.org/drawingml/2006/table">
            <a:tbl>
              <a:tblPr/>
              <a:tblGrid>
                <a:gridCol w="1355760"/>
              </a:tblGrid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&lt;no name&gt;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564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2986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564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99" name="Google Shape;591;p55"/>
          <p:cNvGraphicFramePr/>
          <p:nvPr/>
        </p:nvGraphicFramePr>
        <p:xfrm>
          <a:off x="4456800" y="3566880"/>
          <a:ext cx="1355400" cy="1157760"/>
        </p:xfrm>
        <a:graphic>
          <a:graphicData uri="http://schemas.openxmlformats.org/drawingml/2006/table">
            <a:tbl>
              <a:tblPr/>
              <a:tblGrid>
                <a:gridCol w="1355760"/>
              </a:tblGrid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&lt;no name&gt;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564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3210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564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2.5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00" name="Google Shape;592;p55"/>
          <p:cNvGraphicFramePr/>
          <p:nvPr/>
        </p:nvGraphicFramePr>
        <p:xfrm>
          <a:off x="6396120" y="3566880"/>
          <a:ext cx="1355400" cy="1157760"/>
        </p:xfrm>
        <a:graphic>
          <a:graphicData uri="http://schemas.openxmlformats.org/drawingml/2006/table">
            <a:tbl>
              <a:tblPr/>
              <a:tblGrid>
                <a:gridCol w="1355760"/>
              </a:tblGrid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&lt;no name&gt;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564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3244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  <a:tr h="39564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c”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01" name="Google Shape;593;p55"/>
          <p:cNvSpPr/>
          <p:nvPr/>
        </p:nvSpPr>
        <p:spPr>
          <a:xfrm flipH="1">
            <a:off x="1149120" y="2838240"/>
            <a:ext cx="870480" cy="713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02" name="Google Shape;594;p55"/>
          <p:cNvSpPr/>
          <p:nvPr/>
        </p:nvSpPr>
        <p:spPr>
          <a:xfrm flipH="1">
            <a:off x="3191400" y="2853360"/>
            <a:ext cx="22320" cy="70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03" name="Google Shape;595;p55"/>
          <p:cNvSpPr/>
          <p:nvPr/>
        </p:nvSpPr>
        <p:spPr>
          <a:xfrm>
            <a:off x="4430160" y="2845800"/>
            <a:ext cx="675720" cy="720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04" name="Google Shape;596;p55"/>
          <p:cNvSpPr/>
          <p:nvPr/>
        </p:nvSpPr>
        <p:spPr>
          <a:xfrm>
            <a:off x="5481360" y="2838240"/>
            <a:ext cx="1568880" cy="735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9" dur="indefinite" restart="never" nodeType="tmRoot">
          <p:childTnLst>
            <p:seq>
              <p:cTn id="410" dur="indefinite" nodeType="mainSeq">
                <p:childTnLst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311760" y="29268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Arrays vs Lists - Accessing Data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311760" y="1000080"/>
            <a:ext cx="4125600" cy="1467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Courier New"/>
                <a:ea typeface="Courier New"/>
              </a:rPr>
              <a:t>arr = np.arange(5)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Courier New"/>
                <a:ea typeface="Courier New"/>
              </a:rPr>
              <a:t>print(arr[0])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/>
          </p:nvPr>
        </p:nvSpPr>
        <p:spPr>
          <a:xfrm>
            <a:off x="4497840" y="1000080"/>
            <a:ext cx="4459680" cy="3075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Courier New"/>
                <a:ea typeface="Courier New"/>
              </a:rPr>
              <a:t>lst = [“a”, 4, 2.5, “c”]</a:t>
            </a:r>
            <a:br>
              <a:rPr sz="1400"/>
            </a:br>
            <a:r>
              <a:rPr b="0" lang="en" sz="1400" spc="-1" strike="noStrike">
                <a:solidFill>
                  <a:srgbClr val="595959"/>
                </a:solidFill>
                <a:latin typeface="Courier New"/>
                <a:ea typeface="Courier New"/>
              </a:rPr>
              <a:t>print(lst[0])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Google Shape;604;p56"/>
          <p:cNvSpPr/>
          <p:nvPr/>
        </p:nvSpPr>
        <p:spPr>
          <a:xfrm>
            <a:off x="311760" y="1932840"/>
            <a:ext cx="316080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Arial"/>
                <a:ea typeface="Arial"/>
              </a:rPr>
              <a:t>Array entries are desired data</a:t>
            </a:r>
            <a:endParaRPr b="0" lang="en-US" sz="1400" spc="-1" strike="noStrike">
              <a:latin typeface="Arial"/>
            </a:endParaRPr>
          </a:p>
          <a:p>
            <a:pPr marL="457200" indent="-3175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Arial"/>
                <a:ea typeface="Arial"/>
              </a:rPr>
              <a:t>Fetch </a:t>
            </a:r>
            <a:r>
              <a:rPr b="0" lang="en" sz="1400" spc="-1" strike="noStrike">
                <a:solidFill>
                  <a:srgbClr val="595959"/>
                </a:solidFill>
                <a:latin typeface="Courier New"/>
                <a:ea typeface="Courier New"/>
              </a:rPr>
              <a:t>arr[0]</a:t>
            </a:r>
            <a:endParaRPr b="0" lang="en-US" sz="1400" spc="-1" strike="noStrike"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Arial"/>
                <a:ea typeface="Arial"/>
              </a:rPr>
              <a:t>It’s our data! Print.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09" name="Google Shape;605;p56"/>
          <p:cNvSpPr/>
          <p:nvPr/>
        </p:nvSpPr>
        <p:spPr>
          <a:xfrm>
            <a:off x="4497840" y="1895760"/>
            <a:ext cx="4527720" cy="18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Arial"/>
                <a:ea typeface="Arial"/>
              </a:rPr>
              <a:t>List entries are actually pointers; Data lives elsewhere</a:t>
            </a:r>
            <a:endParaRPr b="0" lang="en-US" sz="1400" spc="-1" strike="noStrike">
              <a:latin typeface="Arial"/>
            </a:endParaRPr>
          </a:p>
          <a:p>
            <a:pPr marL="457200" indent="-317520">
              <a:lnSpc>
                <a:spcPct val="115000"/>
              </a:lnSpc>
              <a:spcBef>
                <a:spcPts val="1001"/>
              </a:spcBef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Arial"/>
                <a:ea typeface="Arial"/>
              </a:rPr>
              <a:t>Fetch </a:t>
            </a:r>
            <a:r>
              <a:rPr b="0" lang="en" sz="1400" spc="-1" strike="noStrike">
                <a:solidFill>
                  <a:srgbClr val="595959"/>
                </a:solidFill>
                <a:latin typeface="Courier New"/>
                <a:ea typeface="Courier New"/>
              </a:rPr>
              <a:t>lst[0]</a:t>
            </a:r>
            <a:endParaRPr b="0" lang="en-US" sz="1400" spc="-1" strike="noStrike"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Arial"/>
                <a:ea typeface="Arial"/>
              </a:rPr>
              <a:t>It’s a pointer! Dereference.</a:t>
            </a:r>
            <a:endParaRPr b="0" lang="en-US" sz="1400" spc="-1" strike="noStrike"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Arial"/>
                <a:ea typeface="Arial"/>
              </a:rPr>
              <a:t>Fetch address saved to pointer </a:t>
            </a:r>
            <a:r>
              <a:rPr b="0" lang="en" sz="1400" spc="-1" strike="noStrike">
                <a:solidFill>
                  <a:srgbClr val="595959"/>
                </a:solidFill>
                <a:latin typeface="Courier New"/>
                <a:ea typeface="Courier New"/>
              </a:rPr>
              <a:t>lst[0]</a:t>
            </a:r>
            <a:endParaRPr b="0" lang="en-US" sz="1400" spc="-1" strike="noStrike"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Arial"/>
                <a:ea typeface="Arial"/>
              </a:rPr>
              <a:t>It’s our data! Print.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47" dur="indefinite" restart="never" nodeType="tmRoot">
          <p:childTnLst>
            <p:seq>
              <p:cTn id="448" dur="indefinite" nodeType="mainSeq">
                <p:childTnLst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Review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102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Processors execute instructions on data in a “fetch, execute, store” cycle.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Memory is organized as a hierarchy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Arial"/>
              <a:buChar char="○"/>
            </a:pP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Balances speed and capacity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Data is transferred through the hierarchy as consecutive blocks </a:t>
            </a:r>
            <a:br>
              <a:rPr sz="1800"/>
            </a:b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called “cache lines”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Arial"/>
              <a:buChar char="○"/>
            </a:pP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Let’s us fetch data before we need it, </a:t>
            </a:r>
            <a:r>
              <a:rPr b="0" i="1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if we’re clever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Variables are values associated with a memory address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 pointer is a special data type whose value is </a:t>
            </a:r>
            <a:r>
              <a:rPr b="0" i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another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address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2026-02-27T14:28:26Z</dcterms:modified>
  <cp:revision>1</cp:revision>
  <dc:subject/>
  <dc:title/>
</cp:coreProperties>
</file>