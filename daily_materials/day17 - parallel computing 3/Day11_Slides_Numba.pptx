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8.xml.rels" ContentType="application/vnd.openxmlformats-package.relationships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5160" cy="34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3"/>
          </p:nvPr>
        </p:nvSpPr>
        <p:spPr>
          <a:xfrm>
            <a:off x="3881880" y="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4"/>
          </p:nvPr>
        </p:nvSpPr>
        <p:spPr>
          <a:xfrm>
            <a:off x="0" y="868680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5"/>
          </p:nvPr>
        </p:nvSpPr>
        <p:spPr>
          <a:xfrm>
            <a:off x="3881880" y="868680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304D216-CED0-4BAE-ADAB-D44059708A2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Did I make multiprocessing category too broad?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52D5239-35BF-49C6-A6C4-F23E7877661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5C0D04A-3E81-4362-BBB8-16B1D2C1291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A3AA1E7-9F13-4752-AE5C-9146CA26B9D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8F3FAFF-7F29-454B-8D7D-921AC54E54B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1E21DB6-EFE2-4A72-B410-692E467DA4B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DBFEC7E-6932-4124-82DA-7F0C7593B67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31176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B8DE2B0-BEEA-4352-AEFF-77CDD11285E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784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F26EFEE-F368-4EDE-B9D2-7474F99C5B1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11760" y="2806560"/>
            <a:ext cx="852012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443FCC-6341-40BA-AC9A-7DA58048820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311760" y="2806560"/>
            <a:ext cx="852012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33A6746-A439-4C3D-BB82-9F5BBD31DB4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31176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784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045158D-0744-410F-AAC3-C3401FE11C4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311760" y="28065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192480" y="28065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73200" y="28065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45E77C-6CFF-42AB-8C68-8CB460D4D00E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0095B7-7A7F-4019-A518-196F305D7B4E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7D4697-1EC0-4421-AB72-20BA55DE915A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195749-0EC8-4CF9-9994-28580E2560FC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C15BF3-1923-4460-8FB9-3AC050A8C5F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09D1A5-17ED-43E2-9BA5-45F33B1392AD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92CDF1-4075-4DDA-9FB9-7F18AD7DE8D6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31176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F913BC-8AD1-4DB7-B557-55F4FF017CC8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16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784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414D50-C426-4774-B193-E54F9C561163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311760" y="2806560"/>
            <a:ext cx="852012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917F8B-F80B-4C61-95CE-168FE0D762C9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11760" y="2806560"/>
            <a:ext cx="852012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A8872D-9B7F-461F-8EFE-F0632F36E408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1176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7840" y="2806560"/>
            <a:ext cx="415764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E2D640-3E85-4EAD-9BEF-8B5232669BC0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311760" y="28065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192480" y="28065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73200" y="2806560"/>
            <a:ext cx="2743200" cy="15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7BC660-0E2A-4CD5-B6ED-17D0F0C0947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16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472600" y="3276720"/>
            <a:ext cx="548280" cy="316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E6030D4-CD93-41FE-B34F-499B0B7B51E0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1029600"/>
            <a:ext cx="8520120" cy="1767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"/>
          </p:nvPr>
        </p:nvSpPr>
        <p:spPr>
          <a:xfrm>
            <a:off x="8472600" y="3276720"/>
            <a:ext cx="548280" cy="316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D7826D8-6DD9-40B2-9183-9598F456F6EF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762480"/>
            <a:ext cx="8520120" cy="1767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rgbClr val="000000"/>
                </a:solidFill>
                <a:latin typeface="Arial"/>
                <a:ea typeface="Arial"/>
              </a:rPr>
              <a:t>Day 11 - Compiling with Numba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316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Accelerating Frequently Used Functions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Arial"/>
                <a:ea typeface="Arial"/>
              </a:rPr>
              <a:t>11/15/24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What is Numba?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Numba is a just-in-time compiler for Python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Works best with code that uses: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NumPy arrays &amp; functions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Loops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 u="sng">
                <a:solidFill>
                  <a:srgbClr val="595959"/>
                </a:solidFill>
                <a:uFillTx/>
                <a:latin typeface="Arial"/>
                <a:ea typeface="Arial"/>
              </a:rPr>
              <a:t>Pros: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super easy to implement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 u="sng">
                <a:solidFill>
                  <a:srgbClr val="595959"/>
                </a:solidFill>
                <a:uFillTx/>
                <a:latin typeface="Arial"/>
                <a:ea typeface="Arial"/>
              </a:rPr>
              <a:t>Cons: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may have to coax Numba into correct behavior;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	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  limited ability to work in Pandas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NoPython &amp; Object Modes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98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Numba will attempt to compile your code in two ways: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NoPython mode tries to remove the Python interpreter completely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This is the default &amp; fastest mode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Works great with NumPy arrays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Object mode will try to identify compilable loops 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&amp; run the rest of your code through the Python interpreter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A fallback mode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Avoid this mode for best performance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For the current version (0.60.0) use the </a:t>
            </a: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nopython=True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argument 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to force an error when falling back to object mode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Compilers &amp;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162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Python is easy to use because it doesn’t care too much about variable types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But machine code - and therefore compilers - absolutely do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	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(e.g. CPU needs to know how many bits of data it’s processing)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You need to compile a different copy of a function for every unique set of types you’re going to use.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Numba is pretty good about covering the basic numeric types (float, int, complex).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Changing the types you use with your function will force a recompile!!</a:t>
            </a:r>
            <a:br>
              <a:rPr sz="1800"/>
            </a:b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(You’ll see this in today’s workbook)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Numba’s Development Stage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Numba has not yet had a 1.0 release!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Code is subject to major changes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Large sets of features may not yet be supported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Read the docs carefully if you want the best performance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Numba’s Options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07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Numba relies on function decorators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@jit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: just-in-time compiler (most common)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Courier New"/>
                <a:ea typeface="Courier New"/>
              </a:rPr>
              <a:t>@njit</a:t>
            </a: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 is shorthand for </a:t>
            </a:r>
            <a:r>
              <a:rPr b="0" lang="en" sz="1600" spc="-1" strike="noStrike">
                <a:solidFill>
                  <a:srgbClr val="595959"/>
                </a:solidFill>
                <a:latin typeface="Courier New"/>
                <a:ea typeface="Courier New"/>
              </a:rPr>
              <a:t>@jit(nopython=True)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Courier New"/>
              <a:buChar char="○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Courier New"/>
                <a:ea typeface="Courier New"/>
              </a:rPr>
              <a:t>@jit(parallel=True)</a:t>
            </a: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 attempts auto parallelism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@vectorize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: custom element-by-element functions on NumPy arrays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@stencil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: optimize iteration over patterns of array cells (e.g. diffusion)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Courier New"/>
                <a:ea typeface="Courier New"/>
              </a:rPr>
              <a:t>@cuda.jit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: compile code to run on GPUs - covered next week!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And much more, depending on how advanced/sophisticated you want to be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Numba’s Parallelism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11760" y="1000080"/>
            <a:ext cx="852012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Unlike all the other parallel techniques we have learned,</a:t>
            </a:r>
            <a:br>
              <a:rPr sz="1800"/>
            </a:b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Numba uses multiple threads instead of multiple processes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Google Shape;98;p20"/>
          <p:cNvGraphicFramePr/>
          <p:nvPr/>
        </p:nvGraphicFramePr>
        <p:xfrm>
          <a:off x="1992600" y="1993320"/>
          <a:ext cx="5158080" cy="2285640"/>
        </p:xfrm>
        <a:graphic>
          <a:graphicData uri="http://schemas.openxmlformats.org/drawingml/2006/table">
            <a:tbl>
              <a:tblPr/>
              <a:tblGrid>
                <a:gridCol w="2562120"/>
                <a:gridCol w="2596320"/>
              </a:tblGrid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Processes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Threads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Instance of a program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Executes segment of process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Isolated memory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Shared memory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6087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One system call per process created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One system call can create multiple threads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6087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More time to create, destroy, and switch between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Less time to create, destroy, and switch between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95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heavy-weight”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light-weight”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1760" y="29268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Implementing Numba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11760" y="1000080"/>
            <a:ext cx="8520120" cy="4022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 code you want to compile needs to be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 function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This function should be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run often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Numba will compile the function the first time it runs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This adds extra time (overhead)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Use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profiling</a:t>
            </a: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 to determine the best candidate functions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Don’t just try to compile everything!!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Rewrite your function (if necessary) to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avoid object mode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NumPy is the best bet!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Using in your project: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Run with and without </a:t>
            </a:r>
            <a:r>
              <a:rPr b="0" lang="en" sz="1600" spc="-1" strike="noStrike">
                <a:solidFill>
                  <a:srgbClr val="595959"/>
                </a:solidFill>
                <a:latin typeface="Courier New"/>
                <a:ea typeface="Courier New"/>
              </a:rPr>
              <a:t>parallel=True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Failure is ok! But try to understand </a:t>
            </a:r>
            <a:r>
              <a:rPr b="0" i="1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why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Know what mode you’re in (use </a:t>
            </a:r>
            <a:r>
              <a:rPr b="0" lang="en" sz="1600" spc="-1" strike="noStrike">
                <a:solidFill>
                  <a:srgbClr val="595959"/>
                </a:solidFill>
                <a:latin typeface="Courier New"/>
                <a:ea typeface="Courier New"/>
              </a:rPr>
              <a:t>nopython=True</a:t>
            </a:r>
            <a:r>
              <a:rPr b="0" lang="en" sz="1600" spc="-1" strike="noStrike">
                <a:solidFill>
                  <a:srgbClr val="595959"/>
                </a:solidFill>
                <a:latin typeface="Arial"/>
                <a:ea typeface="Arial"/>
              </a:rPr>
              <a:t> to get errors for object mode)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Arial"/>
                <a:ea typeface="Arial"/>
              </a:rPr>
              <a:t>Today’s Workbook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075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Please request </a:t>
            </a:r>
            <a:r>
              <a:rPr b="1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4 cores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2026-02-27T15:34:47Z</dcterms:modified>
  <cp:revision>1</cp:revision>
  <dc:subject/>
  <dc:title/>
</cp:coreProperties>
</file>